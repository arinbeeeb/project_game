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7575" y="719074"/>
            <a:ext cx="430530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60082" y="2413317"/>
            <a:ext cx="2816225" cy="3692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719074"/>
            <a:ext cx="430530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001" y="2167953"/>
            <a:ext cx="8872220" cy="956310"/>
          </a:xfrm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2205355" marR="5080" indent="-2193290">
              <a:lnSpc>
                <a:spcPts val="3450"/>
              </a:lnSpc>
              <a:spcBef>
                <a:spcPts val="565"/>
              </a:spcBef>
            </a:pPr>
            <a:r>
              <a:rPr dirty="0" spc="-45">
                <a:latin typeface="Calibri Light"/>
                <a:cs typeface="Calibri Light"/>
              </a:rPr>
              <a:t>ИНДИВИДУАЛЬНЫЙ</a:t>
            </a:r>
            <a:r>
              <a:rPr dirty="0" spc="-120">
                <a:latin typeface="Calibri Light"/>
                <a:cs typeface="Calibri Light"/>
              </a:rPr>
              <a:t> </a:t>
            </a:r>
            <a:r>
              <a:rPr dirty="0" spc="-25">
                <a:latin typeface="Calibri Light"/>
                <a:cs typeface="Calibri Light"/>
              </a:rPr>
              <a:t>ПРОЕКТ</a:t>
            </a:r>
            <a:r>
              <a:rPr dirty="0" spc="-114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ПО</a:t>
            </a:r>
            <a:r>
              <a:rPr dirty="0" spc="-17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ТЕМЕ</a:t>
            </a:r>
            <a:r>
              <a:rPr dirty="0" spc="-125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«РАЗРАБОТКА </a:t>
            </a:r>
            <a:r>
              <a:rPr dirty="0">
                <a:latin typeface="Calibri Light"/>
                <a:cs typeface="Calibri Light"/>
              </a:rPr>
              <a:t>ИГРЫ</a:t>
            </a:r>
            <a:r>
              <a:rPr dirty="0" spc="-114">
                <a:latin typeface="Calibri Light"/>
                <a:cs typeface="Calibri Light"/>
              </a:rPr>
              <a:t> </a:t>
            </a:r>
            <a:r>
              <a:rPr dirty="0" spc="-25">
                <a:latin typeface="Calibri Light"/>
                <a:cs typeface="Calibri Light"/>
              </a:rPr>
              <a:t>«БЫКИ</a:t>
            </a:r>
            <a:r>
              <a:rPr dirty="0" spc="-145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И</a:t>
            </a:r>
            <a:r>
              <a:rPr dirty="0" spc="-140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КОРОВЫ»»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0984" y="3607371"/>
            <a:ext cx="3382010" cy="253428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150" spc="-10">
                <a:latin typeface="Tahoma"/>
                <a:cs typeface="Tahoma"/>
              </a:rPr>
              <a:t>ВЫПОЛНИЛА: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ts val="2100"/>
              </a:lnSpc>
              <a:spcBef>
                <a:spcPts val="969"/>
              </a:spcBef>
            </a:pPr>
            <a:r>
              <a:rPr dirty="0" sz="2150" spc="-150">
                <a:latin typeface="Tahoma"/>
                <a:cs typeface="Tahoma"/>
              </a:rPr>
              <a:t>СТУДЕНТКА</a:t>
            </a:r>
            <a:r>
              <a:rPr dirty="0" sz="2150" spc="-215">
                <a:latin typeface="Tahoma"/>
                <a:cs typeface="Tahoma"/>
              </a:rPr>
              <a:t> </a:t>
            </a:r>
            <a:r>
              <a:rPr dirty="0" sz="2150" spc="-90">
                <a:latin typeface="Tahoma"/>
                <a:cs typeface="Tahoma"/>
              </a:rPr>
              <a:t>2</a:t>
            </a:r>
            <a:r>
              <a:rPr dirty="0" sz="2150" spc="-235">
                <a:latin typeface="Tahoma"/>
                <a:cs typeface="Tahoma"/>
              </a:rPr>
              <a:t> </a:t>
            </a:r>
            <a:r>
              <a:rPr dirty="0" sz="2150" spc="-85">
                <a:latin typeface="Tahoma"/>
                <a:cs typeface="Tahoma"/>
              </a:rPr>
              <a:t>КУРСА</a:t>
            </a:r>
            <a:r>
              <a:rPr dirty="0" sz="2150" spc="-215">
                <a:latin typeface="Tahoma"/>
                <a:cs typeface="Tahoma"/>
              </a:rPr>
              <a:t> </a:t>
            </a:r>
            <a:r>
              <a:rPr dirty="0" sz="2150" spc="-80">
                <a:latin typeface="Tahoma"/>
                <a:cs typeface="Tahoma"/>
              </a:rPr>
              <a:t>ГРУППЫ </a:t>
            </a:r>
            <a:r>
              <a:rPr dirty="0" sz="2150" spc="-75">
                <a:latin typeface="Tahoma"/>
                <a:cs typeface="Tahoma"/>
              </a:rPr>
              <a:t>ИБ-</a:t>
            </a:r>
            <a:r>
              <a:rPr dirty="0" sz="2150" spc="-25">
                <a:latin typeface="Tahoma"/>
                <a:cs typeface="Tahoma"/>
              </a:rPr>
              <a:t>41</a:t>
            </a:r>
            <a:endParaRPr sz="2150">
              <a:latin typeface="Tahoma"/>
              <a:cs typeface="Tahoma"/>
            </a:endParaRPr>
          </a:p>
          <a:p>
            <a:pPr marL="12700" marR="153035">
              <a:lnSpc>
                <a:spcPct val="119300"/>
              </a:lnSpc>
              <a:spcBef>
                <a:spcPts val="90"/>
              </a:spcBef>
            </a:pPr>
            <a:r>
              <a:rPr dirty="0" sz="2150" spc="-90">
                <a:latin typeface="Tahoma"/>
                <a:cs typeface="Tahoma"/>
              </a:rPr>
              <a:t>ЧИСТОВА</a:t>
            </a:r>
            <a:r>
              <a:rPr dirty="0" sz="2150" spc="-229">
                <a:latin typeface="Tahoma"/>
                <a:cs typeface="Tahoma"/>
              </a:rPr>
              <a:t> </a:t>
            </a:r>
            <a:r>
              <a:rPr dirty="0" sz="2150" spc="-75">
                <a:latin typeface="Tahoma"/>
                <a:cs typeface="Tahoma"/>
              </a:rPr>
              <a:t>АРИНА</a:t>
            </a:r>
            <a:r>
              <a:rPr dirty="0" sz="2150" spc="-225">
                <a:latin typeface="Tahoma"/>
                <a:cs typeface="Tahoma"/>
              </a:rPr>
              <a:t> </a:t>
            </a:r>
            <a:r>
              <a:rPr dirty="0" sz="2150" spc="-65">
                <a:latin typeface="Tahoma"/>
                <a:cs typeface="Tahoma"/>
              </a:rPr>
              <a:t>ЮРЬЕВНА </a:t>
            </a:r>
            <a:r>
              <a:rPr dirty="0" sz="2150" spc="-50">
                <a:latin typeface="Tahoma"/>
                <a:cs typeface="Tahoma"/>
              </a:rPr>
              <a:t>ПРЕПОДАВАТЕЛЬ:</a:t>
            </a:r>
            <a:endParaRPr sz="2150">
              <a:latin typeface="Tahoma"/>
              <a:cs typeface="Tahoma"/>
            </a:endParaRPr>
          </a:p>
          <a:p>
            <a:pPr marL="12700" marR="344170">
              <a:lnSpc>
                <a:spcPts val="2100"/>
              </a:lnSpc>
              <a:spcBef>
                <a:spcPts val="1045"/>
              </a:spcBef>
            </a:pPr>
            <a:r>
              <a:rPr dirty="0" sz="2150" spc="-120">
                <a:latin typeface="Tahoma"/>
                <a:cs typeface="Tahoma"/>
              </a:rPr>
              <a:t>ЛИПАТНИКОВА</a:t>
            </a:r>
            <a:r>
              <a:rPr dirty="0" sz="2150" spc="-200">
                <a:latin typeface="Tahoma"/>
                <a:cs typeface="Tahoma"/>
              </a:rPr>
              <a:t> </a:t>
            </a:r>
            <a:r>
              <a:rPr dirty="0" sz="2150" spc="-105">
                <a:latin typeface="Tahoma"/>
                <a:cs typeface="Tahoma"/>
              </a:rPr>
              <a:t>НАДЕЖДА </a:t>
            </a:r>
            <a:r>
              <a:rPr dirty="0" sz="2150" spc="-10">
                <a:latin typeface="Tahoma"/>
                <a:cs typeface="Tahoma"/>
              </a:rPr>
              <a:t>МИХАЙЛОВНА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569" y="616585"/>
            <a:ext cx="431101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90"/>
              <a:t>Актуальность</a:t>
            </a:r>
            <a:r>
              <a:rPr dirty="0" spc="-400"/>
              <a:t> </a:t>
            </a:r>
            <a:r>
              <a:rPr dirty="0" spc="-114"/>
              <a:t>и</a:t>
            </a:r>
            <a:r>
              <a:rPr dirty="0" spc="-345"/>
              <a:t> </a:t>
            </a:r>
            <a:r>
              <a:rPr dirty="0" spc="-120"/>
              <a:t>проблема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0050" y="1581150"/>
            <a:ext cx="3467100" cy="4800600"/>
            <a:chOff x="400050" y="1581150"/>
            <a:chExt cx="3467100" cy="4800600"/>
          </a:xfrm>
        </p:grpSpPr>
        <p:sp>
          <p:nvSpPr>
            <p:cNvPr id="4" name="object 4" descr=""/>
            <p:cNvSpPr/>
            <p:nvPr/>
          </p:nvSpPr>
          <p:spPr>
            <a:xfrm>
              <a:off x="409575" y="1590675"/>
              <a:ext cx="3448050" cy="4781550"/>
            </a:xfrm>
            <a:custGeom>
              <a:avLst/>
              <a:gdLst/>
              <a:ahLst/>
              <a:cxnLst/>
              <a:rect l="l" t="t" r="r" b="b"/>
              <a:pathLst>
                <a:path w="3448050" h="4781550">
                  <a:moveTo>
                    <a:pt x="2873375" y="0"/>
                  </a:moveTo>
                  <a:lnTo>
                    <a:pt x="574687" y="0"/>
                  </a:lnTo>
                  <a:lnTo>
                    <a:pt x="527553" y="1905"/>
                  </a:lnTo>
                  <a:lnTo>
                    <a:pt x="481468" y="7521"/>
                  </a:lnTo>
                  <a:lnTo>
                    <a:pt x="436581" y="16702"/>
                  </a:lnTo>
                  <a:lnTo>
                    <a:pt x="393039" y="29298"/>
                  </a:lnTo>
                  <a:lnTo>
                    <a:pt x="350990" y="45162"/>
                  </a:lnTo>
                  <a:lnTo>
                    <a:pt x="310582" y="64146"/>
                  </a:lnTo>
                  <a:lnTo>
                    <a:pt x="271963" y="86102"/>
                  </a:lnTo>
                  <a:lnTo>
                    <a:pt x="235281" y="110882"/>
                  </a:lnTo>
                  <a:lnTo>
                    <a:pt x="200684" y="138338"/>
                  </a:lnTo>
                  <a:lnTo>
                    <a:pt x="168319" y="168322"/>
                  </a:lnTo>
                  <a:lnTo>
                    <a:pt x="138335" y="200687"/>
                  </a:lnTo>
                  <a:lnTo>
                    <a:pt x="110879" y="235284"/>
                  </a:lnTo>
                  <a:lnTo>
                    <a:pt x="86099" y="271965"/>
                  </a:lnTo>
                  <a:lnTo>
                    <a:pt x="64144" y="310583"/>
                  </a:lnTo>
                  <a:lnTo>
                    <a:pt x="45160" y="350990"/>
                  </a:lnTo>
                  <a:lnTo>
                    <a:pt x="29297" y="393037"/>
                  </a:lnTo>
                  <a:lnTo>
                    <a:pt x="16701" y="436577"/>
                  </a:lnTo>
                  <a:lnTo>
                    <a:pt x="7521" y="481462"/>
                  </a:lnTo>
                  <a:lnTo>
                    <a:pt x="1905" y="527544"/>
                  </a:lnTo>
                  <a:lnTo>
                    <a:pt x="0" y="574675"/>
                  </a:lnTo>
                  <a:lnTo>
                    <a:pt x="0" y="4206862"/>
                  </a:lnTo>
                  <a:lnTo>
                    <a:pt x="1905" y="4253994"/>
                  </a:lnTo>
                  <a:lnTo>
                    <a:pt x="7521" y="4300078"/>
                  </a:lnTo>
                  <a:lnTo>
                    <a:pt x="16701" y="4344964"/>
                  </a:lnTo>
                  <a:lnTo>
                    <a:pt x="29297" y="4388505"/>
                  </a:lnTo>
                  <a:lnTo>
                    <a:pt x="45160" y="4430554"/>
                  </a:lnTo>
                  <a:lnTo>
                    <a:pt x="64144" y="4470961"/>
                  </a:lnTo>
                  <a:lnTo>
                    <a:pt x="86099" y="4509580"/>
                  </a:lnTo>
                  <a:lnTo>
                    <a:pt x="110879" y="4546262"/>
                  </a:lnTo>
                  <a:lnTo>
                    <a:pt x="138335" y="4580860"/>
                  </a:lnTo>
                  <a:lnTo>
                    <a:pt x="168319" y="4613225"/>
                  </a:lnTo>
                  <a:lnTo>
                    <a:pt x="200684" y="4643210"/>
                  </a:lnTo>
                  <a:lnTo>
                    <a:pt x="235281" y="4670667"/>
                  </a:lnTo>
                  <a:lnTo>
                    <a:pt x="271963" y="4695447"/>
                  </a:lnTo>
                  <a:lnTo>
                    <a:pt x="310582" y="4717403"/>
                  </a:lnTo>
                  <a:lnTo>
                    <a:pt x="350990" y="4736387"/>
                  </a:lnTo>
                  <a:lnTo>
                    <a:pt x="393039" y="4752251"/>
                  </a:lnTo>
                  <a:lnTo>
                    <a:pt x="436581" y="4764847"/>
                  </a:lnTo>
                  <a:lnTo>
                    <a:pt x="481468" y="4774028"/>
                  </a:lnTo>
                  <a:lnTo>
                    <a:pt x="527553" y="4779644"/>
                  </a:lnTo>
                  <a:lnTo>
                    <a:pt x="574687" y="4781550"/>
                  </a:lnTo>
                  <a:lnTo>
                    <a:pt x="2873375" y="4781550"/>
                  </a:lnTo>
                  <a:lnTo>
                    <a:pt x="2920505" y="4779644"/>
                  </a:lnTo>
                  <a:lnTo>
                    <a:pt x="2966587" y="4774028"/>
                  </a:lnTo>
                  <a:lnTo>
                    <a:pt x="3011472" y="4764847"/>
                  </a:lnTo>
                  <a:lnTo>
                    <a:pt x="3055012" y="4752251"/>
                  </a:lnTo>
                  <a:lnTo>
                    <a:pt x="3097059" y="4736387"/>
                  </a:lnTo>
                  <a:lnTo>
                    <a:pt x="3137466" y="4717403"/>
                  </a:lnTo>
                  <a:lnTo>
                    <a:pt x="3176084" y="4695447"/>
                  </a:lnTo>
                  <a:lnTo>
                    <a:pt x="3212765" y="4670667"/>
                  </a:lnTo>
                  <a:lnTo>
                    <a:pt x="3247362" y="4643210"/>
                  </a:lnTo>
                  <a:lnTo>
                    <a:pt x="3279727" y="4613225"/>
                  </a:lnTo>
                  <a:lnTo>
                    <a:pt x="3309711" y="4580860"/>
                  </a:lnTo>
                  <a:lnTo>
                    <a:pt x="3337167" y="4546262"/>
                  </a:lnTo>
                  <a:lnTo>
                    <a:pt x="3361947" y="4509580"/>
                  </a:lnTo>
                  <a:lnTo>
                    <a:pt x="3383903" y="4470961"/>
                  </a:lnTo>
                  <a:lnTo>
                    <a:pt x="3402887" y="4430554"/>
                  </a:lnTo>
                  <a:lnTo>
                    <a:pt x="3418751" y="4388505"/>
                  </a:lnTo>
                  <a:lnTo>
                    <a:pt x="3431347" y="4344964"/>
                  </a:lnTo>
                  <a:lnTo>
                    <a:pt x="3440528" y="4300078"/>
                  </a:lnTo>
                  <a:lnTo>
                    <a:pt x="3446144" y="4253994"/>
                  </a:lnTo>
                  <a:lnTo>
                    <a:pt x="3448050" y="4206862"/>
                  </a:lnTo>
                  <a:lnTo>
                    <a:pt x="3448050" y="574675"/>
                  </a:lnTo>
                  <a:lnTo>
                    <a:pt x="3446144" y="527544"/>
                  </a:lnTo>
                  <a:lnTo>
                    <a:pt x="3440528" y="481462"/>
                  </a:lnTo>
                  <a:lnTo>
                    <a:pt x="3431347" y="436577"/>
                  </a:lnTo>
                  <a:lnTo>
                    <a:pt x="3418751" y="393037"/>
                  </a:lnTo>
                  <a:lnTo>
                    <a:pt x="3402887" y="350990"/>
                  </a:lnTo>
                  <a:lnTo>
                    <a:pt x="3383903" y="310583"/>
                  </a:lnTo>
                  <a:lnTo>
                    <a:pt x="3361947" y="271965"/>
                  </a:lnTo>
                  <a:lnTo>
                    <a:pt x="3337167" y="235284"/>
                  </a:lnTo>
                  <a:lnTo>
                    <a:pt x="3309711" y="200687"/>
                  </a:lnTo>
                  <a:lnTo>
                    <a:pt x="3279727" y="168322"/>
                  </a:lnTo>
                  <a:lnTo>
                    <a:pt x="3247362" y="138338"/>
                  </a:lnTo>
                  <a:lnTo>
                    <a:pt x="3212765" y="110882"/>
                  </a:lnTo>
                  <a:lnTo>
                    <a:pt x="3176084" y="86102"/>
                  </a:lnTo>
                  <a:lnTo>
                    <a:pt x="3137466" y="64146"/>
                  </a:lnTo>
                  <a:lnTo>
                    <a:pt x="3097059" y="45162"/>
                  </a:lnTo>
                  <a:lnTo>
                    <a:pt x="3055012" y="29298"/>
                  </a:lnTo>
                  <a:lnTo>
                    <a:pt x="3011472" y="16702"/>
                  </a:lnTo>
                  <a:lnTo>
                    <a:pt x="2966587" y="7521"/>
                  </a:lnTo>
                  <a:lnTo>
                    <a:pt x="2920505" y="1905"/>
                  </a:lnTo>
                  <a:lnTo>
                    <a:pt x="287337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9575" y="1590675"/>
              <a:ext cx="3448050" cy="4781550"/>
            </a:xfrm>
            <a:custGeom>
              <a:avLst/>
              <a:gdLst/>
              <a:ahLst/>
              <a:cxnLst/>
              <a:rect l="l" t="t" r="r" b="b"/>
              <a:pathLst>
                <a:path w="3448050" h="4781550">
                  <a:moveTo>
                    <a:pt x="0" y="574675"/>
                  </a:moveTo>
                  <a:lnTo>
                    <a:pt x="1905" y="527544"/>
                  </a:lnTo>
                  <a:lnTo>
                    <a:pt x="7521" y="481462"/>
                  </a:lnTo>
                  <a:lnTo>
                    <a:pt x="16701" y="436577"/>
                  </a:lnTo>
                  <a:lnTo>
                    <a:pt x="29297" y="393037"/>
                  </a:lnTo>
                  <a:lnTo>
                    <a:pt x="45160" y="350990"/>
                  </a:lnTo>
                  <a:lnTo>
                    <a:pt x="64144" y="310583"/>
                  </a:lnTo>
                  <a:lnTo>
                    <a:pt x="86099" y="271965"/>
                  </a:lnTo>
                  <a:lnTo>
                    <a:pt x="110879" y="235284"/>
                  </a:lnTo>
                  <a:lnTo>
                    <a:pt x="138335" y="200687"/>
                  </a:lnTo>
                  <a:lnTo>
                    <a:pt x="168319" y="168322"/>
                  </a:lnTo>
                  <a:lnTo>
                    <a:pt x="200684" y="138338"/>
                  </a:lnTo>
                  <a:lnTo>
                    <a:pt x="235281" y="110882"/>
                  </a:lnTo>
                  <a:lnTo>
                    <a:pt x="271963" y="86102"/>
                  </a:lnTo>
                  <a:lnTo>
                    <a:pt x="310582" y="64146"/>
                  </a:lnTo>
                  <a:lnTo>
                    <a:pt x="350990" y="45162"/>
                  </a:lnTo>
                  <a:lnTo>
                    <a:pt x="393039" y="29298"/>
                  </a:lnTo>
                  <a:lnTo>
                    <a:pt x="436581" y="16702"/>
                  </a:lnTo>
                  <a:lnTo>
                    <a:pt x="481468" y="7521"/>
                  </a:lnTo>
                  <a:lnTo>
                    <a:pt x="527553" y="1905"/>
                  </a:lnTo>
                  <a:lnTo>
                    <a:pt x="574687" y="0"/>
                  </a:lnTo>
                  <a:lnTo>
                    <a:pt x="2873375" y="0"/>
                  </a:lnTo>
                  <a:lnTo>
                    <a:pt x="2920505" y="1905"/>
                  </a:lnTo>
                  <a:lnTo>
                    <a:pt x="2966587" y="7521"/>
                  </a:lnTo>
                  <a:lnTo>
                    <a:pt x="3011472" y="16702"/>
                  </a:lnTo>
                  <a:lnTo>
                    <a:pt x="3055012" y="29298"/>
                  </a:lnTo>
                  <a:lnTo>
                    <a:pt x="3097059" y="45162"/>
                  </a:lnTo>
                  <a:lnTo>
                    <a:pt x="3137466" y="64146"/>
                  </a:lnTo>
                  <a:lnTo>
                    <a:pt x="3176084" y="86102"/>
                  </a:lnTo>
                  <a:lnTo>
                    <a:pt x="3212765" y="110882"/>
                  </a:lnTo>
                  <a:lnTo>
                    <a:pt x="3247362" y="138338"/>
                  </a:lnTo>
                  <a:lnTo>
                    <a:pt x="3279727" y="168322"/>
                  </a:lnTo>
                  <a:lnTo>
                    <a:pt x="3309711" y="200687"/>
                  </a:lnTo>
                  <a:lnTo>
                    <a:pt x="3337167" y="235284"/>
                  </a:lnTo>
                  <a:lnTo>
                    <a:pt x="3361947" y="271965"/>
                  </a:lnTo>
                  <a:lnTo>
                    <a:pt x="3383903" y="310583"/>
                  </a:lnTo>
                  <a:lnTo>
                    <a:pt x="3402887" y="350990"/>
                  </a:lnTo>
                  <a:lnTo>
                    <a:pt x="3418751" y="393037"/>
                  </a:lnTo>
                  <a:lnTo>
                    <a:pt x="3431347" y="436577"/>
                  </a:lnTo>
                  <a:lnTo>
                    <a:pt x="3440528" y="481462"/>
                  </a:lnTo>
                  <a:lnTo>
                    <a:pt x="3446144" y="527544"/>
                  </a:lnTo>
                  <a:lnTo>
                    <a:pt x="3448050" y="574675"/>
                  </a:lnTo>
                  <a:lnTo>
                    <a:pt x="3448050" y="4206862"/>
                  </a:lnTo>
                  <a:lnTo>
                    <a:pt x="3446144" y="4253994"/>
                  </a:lnTo>
                  <a:lnTo>
                    <a:pt x="3440528" y="4300078"/>
                  </a:lnTo>
                  <a:lnTo>
                    <a:pt x="3431347" y="4344964"/>
                  </a:lnTo>
                  <a:lnTo>
                    <a:pt x="3418751" y="4388505"/>
                  </a:lnTo>
                  <a:lnTo>
                    <a:pt x="3402887" y="4430554"/>
                  </a:lnTo>
                  <a:lnTo>
                    <a:pt x="3383903" y="4470961"/>
                  </a:lnTo>
                  <a:lnTo>
                    <a:pt x="3361947" y="4509580"/>
                  </a:lnTo>
                  <a:lnTo>
                    <a:pt x="3337167" y="4546262"/>
                  </a:lnTo>
                  <a:lnTo>
                    <a:pt x="3309711" y="4580860"/>
                  </a:lnTo>
                  <a:lnTo>
                    <a:pt x="3279727" y="4613225"/>
                  </a:lnTo>
                  <a:lnTo>
                    <a:pt x="3247362" y="4643210"/>
                  </a:lnTo>
                  <a:lnTo>
                    <a:pt x="3212765" y="4670667"/>
                  </a:lnTo>
                  <a:lnTo>
                    <a:pt x="3176084" y="4695447"/>
                  </a:lnTo>
                  <a:lnTo>
                    <a:pt x="3137466" y="4717403"/>
                  </a:lnTo>
                  <a:lnTo>
                    <a:pt x="3097059" y="4736387"/>
                  </a:lnTo>
                  <a:lnTo>
                    <a:pt x="3055012" y="4752251"/>
                  </a:lnTo>
                  <a:lnTo>
                    <a:pt x="3011472" y="4764847"/>
                  </a:lnTo>
                  <a:lnTo>
                    <a:pt x="2966587" y="4774028"/>
                  </a:lnTo>
                  <a:lnTo>
                    <a:pt x="2920505" y="4779644"/>
                  </a:lnTo>
                  <a:lnTo>
                    <a:pt x="2873375" y="4781550"/>
                  </a:lnTo>
                  <a:lnTo>
                    <a:pt x="574687" y="4781550"/>
                  </a:lnTo>
                  <a:lnTo>
                    <a:pt x="527553" y="4779644"/>
                  </a:lnTo>
                  <a:lnTo>
                    <a:pt x="481468" y="4774028"/>
                  </a:lnTo>
                  <a:lnTo>
                    <a:pt x="436581" y="4764847"/>
                  </a:lnTo>
                  <a:lnTo>
                    <a:pt x="393039" y="4752251"/>
                  </a:lnTo>
                  <a:lnTo>
                    <a:pt x="350990" y="4736387"/>
                  </a:lnTo>
                  <a:lnTo>
                    <a:pt x="310582" y="4717403"/>
                  </a:lnTo>
                  <a:lnTo>
                    <a:pt x="271963" y="4695447"/>
                  </a:lnTo>
                  <a:lnTo>
                    <a:pt x="235281" y="4670667"/>
                  </a:lnTo>
                  <a:lnTo>
                    <a:pt x="200684" y="4643210"/>
                  </a:lnTo>
                  <a:lnTo>
                    <a:pt x="168319" y="4613225"/>
                  </a:lnTo>
                  <a:lnTo>
                    <a:pt x="138335" y="4580860"/>
                  </a:lnTo>
                  <a:lnTo>
                    <a:pt x="110879" y="4546262"/>
                  </a:lnTo>
                  <a:lnTo>
                    <a:pt x="86099" y="4509580"/>
                  </a:lnTo>
                  <a:lnTo>
                    <a:pt x="64144" y="4470961"/>
                  </a:lnTo>
                  <a:lnTo>
                    <a:pt x="45160" y="4430554"/>
                  </a:lnTo>
                  <a:lnTo>
                    <a:pt x="29297" y="4388505"/>
                  </a:lnTo>
                  <a:lnTo>
                    <a:pt x="16701" y="4344964"/>
                  </a:lnTo>
                  <a:lnTo>
                    <a:pt x="7521" y="4300078"/>
                  </a:lnTo>
                  <a:lnTo>
                    <a:pt x="1905" y="4253994"/>
                  </a:lnTo>
                  <a:lnTo>
                    <a:pt x="0" y="4206862"/>
                  </a:lnTo>
                  <a:lnTo>
                    <a:pt x="0" y="574675"/>
                  </a:lnTo>
                  <a:close/>
                </a:path>
              </a:pathLst>
            </a:custGeom>
            <a:ln w="19050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7475" y="1803082"/>
            <a:ext cx="150177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95" b="1">
                <a:solidFill>
                  <a:srgbClr val="FFFFFF"/>
                </a:solidFill>
                <a:latin typeface="Arial"/>
                <a:cs typeface="Arial"/>
              </a:rPr>
              <a:t>Актуальность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55600" marR="767080" indent="-343535">
              <a:lnSpc>
                <a:spcPct val="100000"/>
              </a:lnSpc>
              <a:spcBef>
                <a:spcPts val="125"/>
              </a:spcBef>
              <a:buFont typeface="Calibri"/>
              <a:buChar char="-"/>
              <a:tabLst>
                <a:tab pos="355600" algn="l"/>
              </a:tabLst>
            </a:pPr>
            <a:r>
              <a:rPr dirty="0" spc="-150"/>
              <a:t>Игра</a:t>
            </a:r>
            <a:r>
              <a:rPr dirty="0" spc="-185"/>
              <a:t> </a:t>
            </a:r>
            <a:r>
              <a:rPr dirty="0" spc="-160"/>
              <a:t>развивает </a:t>
            </a:r>
            <a:r>
              <a:rPr dirty="0" spc="-155"/>
              <a:t>дедукцию</a:t>
            </a:r>
            <a:r>
              <a:rPr dirty="0" spc="-120"/>
              <a:t> </a:t>
            </a:r>
            <a:r>
              <a:rPr dirty="0" spc="-50"/>
              <a:t>и </a:t>
            </a:r>
            <a:r>
              <a:rPr dirty="0" spc="-135"/>
              <a:t>аналитическое </a:t>
            </a:r>
            <a:r>
              <a:rPr dirty="0" spc="-60"/>
              <a:t>мышление</a:t>
            </a:r>
          </a:p>
          <a:p>
            <a:pPr marL="355600" marR="5080" indent="-343535">
              <a:lnSpc>
                <a:spcPct val="100000"/>
              </a:lnSpc>
              <a:spcBef>
                <a:spcPts val="15"/>
              </a:spcBef>
              <a:buFont typeface="Calibri"/>
              <a:buChar char="-"/>
              <a:tabLst>
                <a:tab pos="355600" algn="l"/>
              </a:tabLst>
            </a:pPr>
            <a:r>
              <a:rPr dirty="0" spc="-200"/>
              <a:t>Большинство</a:t>
            </a:r>
            <a:r>
              <a:rPr dirty="0" spc="110"/>
              <a:t> </a:t>
            </a:r>
            <a:r>
              <a:rPr dirty="0" spc="-145"/>
              <a:t>онлайн- </a:t>
            </a:r>
            <a:r>
              <a:rPr dirty="0" spc="-170"/>
              <a:t>версий</a:t>
            </a:r>
            <a:r>
              <a:rPr dirty="0" spc="-135"/>
              <a:t> </a:t>
            </a:r>
            <a:r>
              <a:rPr dirty="0" spc="-70"/>
              <a:t>перегружены </a:t>
            </a:r>
            <a:r>
              <a:rPr dirty="0" spc="-145"/>
              <a:t>рекламой,</a:t>
            </a:r>
            <a:r>
              <a:rPr dirty="0" spc="-155"/>
              <a:t> </a:t>
            </a:r>
            <a:r>
              <a:rPr dirty="0" spc="-45"/>
              <a:t>требуют </a:t>
            </a:r>
            <a:r>
              <a:rPr dirty="0" spc="-165"/>
              <a:t>подключения</a:t>
            </a:r>
            <a:r>
              <a:rPr dirty="0" spc="-195"/>
              <a:t> </a:t>
            </a:r>
            <a:r>
              <a:rPr dirty="0" spc="-50"/>
              <a:t>к </a:t>
            </a:r>
            <a:r>
              <a:rPr dirty="0" spc="-160"/>
              <a:t>интернету </a:t>
            </a:r>
            <a:r>
              <a:rPr dirty="0" spc="-180"/>
              <a:t>или</a:t>
            </a:r>
            <a:r>
              <a:rPr dirty="0" spc="-150"/>
              <a:t> </a:t>
            </a:r>
            <a:r>
              <a:rPr dirty="0" spc="-25"/>
              <a:t>не </a:t>
            </a:r>
            <a:r>
              <a:rPr dirty="0" spc="-110"/>
              <a:t>предоставляют </a:t>
            </a:r>
            <a:r>
              <a:rPr dirty="0" spc="-165"/>
              <a:t>истории</a:t>
            </a:r>
            <a:r>
              <a:rPr dirty="0" spc="-125"/>
              <a:t> </a:t>
            </a:r>
            <a:r>
              <a:rPr dirty="0" spc="-215"/>
              <a:t>ходов </a:t>
            </a:r>
            <a:r>
              <a:rPr dirty="0" spc="-50"/>
              <a:t>и </a:t>
            </a:r>
            <a:r>
              <a:rPr dirty="0" spc="-35"/>
              <a:t>статистики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4362450" y="1581150"/>
            <a:ext cx="3467100" cy="4800600"/>
            <a:chOff x="4362450" y="1581150"/>
            <a:chExt cx="3467100" cy="4800600"/>
          </a:xfrm>
        </p:grpSpPr>
        <p:sp>
          <p:nvSpPr>
            <p:cNvPr id="9" name="object 9" descr=""/>
            <p:cNvSpPr/>
            <p:nvPr/>
          </p:nvSpPr>
          <p:spPr>
            <a:xfrm>
              <a:off x="4371975" y="1590675"/>
              <a:ext cx="3448050" cy="4781550"/>
            </a:xfrm>
            <a:custGeom>
              <a:avLst/>
              <a:gdLst/>
              <a:ahLst/>
              <a:cxnLst/>
              <a:rect l="l" t="t" r="r" b="b"/>
              <a:pathLst>
                <a:path w="3448050" h="4781550">
                  <a:moveTo>
                    <a:pt x="2873375" y="0"/>
                  </a:moveTo>
                  <a:lnTo>
                    <a:pt x="574675" y="0"/>
                  </a:lnTo>
                  <a:lnTo>
                    <a:pt x="527544" y="1905"/>
                  </a:lnTo>
                  <a:lnTo>
                    <a:pt x="481462" y="7521"/>
                  </a:lnTo>
                  <a:lnTo>
                    <a:pt x="436577" y="16702"/>
                  </a:lnTo>
                  <a:lnTo>
                    <a:pt x="393037" y="29298"/>
                  </a:lnTo>
                  <a:lnTo>
                    <a:pt x="350990" y="45162"/>
                  </a:lnTo>
                  <a:lnTo>
                    <a:pt x="310583" y="64146"/>
                  </a:lnTo>
                  <a:lnTo>
                    <a:pt x="271965" y="86102"/>
                  </a:lnTo>
                  <a:lnTo>
                    <a:pt x="235284" y="110882"/>
                  </a:lnTo>
                  <a:lnTo>
                    <a:pt x="200687" y="138338"/>
                  </a:lnTo>
                  <a:lnTo>
                    <a:pt x="168322" y="168322"/>
                  </a:lnTo>
                  <a:lnTo>
                    <a:pt x="138338" y="200687"/>
                  </a:lnTo>
                  <a:lnTo>
                    <a:pt x="110882" y="235284"/>
                  </a:lnTo>
                  <a:lnTo>
                    <a:pt x="86102" y="271965"/>
                  </a:lnTo>
                  <a:lnTo>
                    <a:pt x="64146" y="310583"/>
                  </a:lnTo>
                  <a:lnTo>
                    <a:pt x="45162" y="350990"/>
                  </a:lnTo>
                  <a:lnTo>
                    <a:pt x="29298" y="393037"/>
                  </a:lnTo>
                  <a:lnTo>
                    <a:pt x="16702" y="436577"/>
                  </a:lnTo>
                  <a:lnTo>
                    <a:pt x="7521" y="481462"/>
                  </a:lnTo>
                  <a:lnTo>
                    <a:pt x="1905" y="527544"/>
                  </a:lnTo>
                  <a:lnTo>
                    <a:pt x="0" y="574675"/>
                  </a:lnTo>
                  <a:lnTo>
                    <a:pt x="0" y="4206862"/>
                  </a:lnTo>
                  <a:lnTo>
                    <a:pt x="1905" y="4253994"/>
                  </a:lnTo>
                  <a:lnTo>
                    <a:pt x="7521" y="4300078"/>
                  </a:lnTo>
                  <a:lnTo>
                    <a:pt x="16702" y="4344964"/>
                  </a:lnTo>
                  <a:lnTo>
                    <a:pt x="29298" y="4388505"/>
                  </a:lnTo>
                  <a:lnTo>
                    <a:pt x="45162" y="4430554"/>
                  </a:lnTo>
                  <a:lnTo>
                    <a:pt x="64146" y="4470961"/>
                  </a:lnTo>
                  <a:lnTo>
                    <a:pt x="86102" y="4509580"/>
                  </a:lnTo>
                  <a:lnTo>
                    <a:pt x="110882" y="4546262"/>
                  </a:lnTo>
                  <a:lnTo>
                    <a:pt x="138338" y="4580860"/>
                  </a:lnTo>
                  <a:lnTo>
                    <a:pt x="168322" y="4613225"/>
                  </a:lnTo>
                  <a:lnTo>
                    <a:pt x="200687" y="4643210"/>
                  </a:lnTo>
                  <a:lnTo>
                    <a:pt x="235284" y="4670667"/>
                  </a:lnTo>
                  <a:lnTo>
                    <a:pt x="271965" y="4695447"/>
                  </a:lnTo>
                  <a:lnTo>
                    <a:pt x="310583" y="4717403"/>
                  </a:lnTo>
                  <a:lnTo>
                    <a:pt x="350990" y="4736387"/>
                  </a:lnTo>
                  <a:lnTo>
                    <a:pt x="393037" y="4752251"/>
                  </a:lnTo>
                  <a:lnTo>
                    <a:pt x="436577" y="4764847"/>
                  </a:lnTo>
                  <a:lnTo>
                    <a:pt x="481462" y="4774028"/>
                  </a:lnTo>
                  <a:lnTo>
                    <a:pt x="527544" y="4779644"/>
                  </a:lnTo>
                  <a:lnTo>
                    <a:pt x="574675" y="4781550"/>
                  </a:lnTo>
                  <a:lnTo>
                    <a:pt x="2873375" y="4781550"/>
                  </a:lnTo>
                  <a:lnTo>
                    <a:pt x="2920505" y="4779644"/>
                  </a:lnTo>
                  <a:lnTo>
                    <a:pt x="2966587" y="4774028"/>
                  </a:lnTo>
                  <a:lnTo>
                    <a:pt x="3011472" y="4764847"/>
                  </a:lnTo>
                  <a:lnTo>
                    <a:pt x="3055012" y="4752251"/>
                  </a:lnTo>
                  <a:lnTo>
                    <a:pt x="3097059" y="4736387"/>
                  </a:lnTo>
                  <a:lnTo>
                    <a:pt x="3137466" y="4717403"/>
                  </a:lnTo>
                  <a:lnTo>
                    <a:pt x="3176084" y="4695447"/>
                  </a:lnTo>
                  <a:lnTo>
                    <a:pt x="3212765" y="4670667"/>
                  </a:lnTo>
                  <a:lnTo>
                    <a:pt x="3247362" y="4643210"/>
                  </a:lnTo>
                  <a:lnTo>
                    <a:pt x="3279727" y="4613225"/>
                  </a:lnTo>
                  <a:lnTo>
                    <a:pt x="3309711" y="4580860"/>
                  </a:lnTo>
                  <a:lnTo>
                    <a:pt x="3337167" y="4546262"/>
                  </a:lnTo>
                  <a:lnTo>
                    <a:pt x="3361947" y="4509580"/>
                  </a:lnTo>
                  <a:lnTo>
                    <a:pt x="3383903" y="4470961"/>
                  </a:lnTo>
                  <a:lnTo>
                    <a:pt x="3402887" y="4430554"/>
                  </a:lnTo>
                  <a:lnTo>
                    <a:pt x="3418751" y="4388505"/>
                  </a:lnTo>
                  <a:lnTo>
                    <a:pt x="3431347" y="4344964"/>
                  </a:lnTo>
                  <a:lnTo>
                    <a:pt x="3440528" y="4300078"/>
                  </a:lnTo>
                  <a:lnTo>
                    <a:pt x="3446144" y="4253994"/>
                  </a:lnTo>
                  <a:lnTo>
                    <a:pt x="3448050" y="4206862"/>
                  </a:lnTo>
                  <a:lnTo>
                    <a:pt x="3448050" y="574675"/>
                  </a:lnTo>
                  <a:lnTo>
                    <a:pt x="3446144" y="527544"/>
                  </a:lnTo>
                  <a:lnTo>
                    <a:pt x="3440528" y="481462"/>
                  </a:lnTo>
                  <a:lnTo>
                    <a:pt x="3431347" y="436577"/>
                  </a:lnTo>
                  <a:lnTo>
                    <a:pt x="3418751" y="393037"/>
                  </a:lnTo>
                  <a:lnTo>
                    <a:pt x="3402887" y="350990"/>
                  </a:lnTo>
                  <a:lnTo>
                    <a:pt x="3383903" y="310583"/>
                  </a:lnTo>
                  <a:lnTo>
                    <a:pt x="3361947" y="271965"/>
                  </a:lnTo>
                  <a:lnTo>
                    <a:pt x="3337167" y="235284"/>
                  </a:lnTo>
                  <a:lnTo>
                    <a:pt x="3309711" y="200687"/>
                  </a:lnTo>
                  <a:lnTo>
                    <a:pt x="3279727" y="168322"/>
                  </a:lnTo>
                  <a:lnTo>
                    <a:pt x="3247362" y="138338"/>
                  </a:lnTo>
                  <a:lnTo>
                    <a:pt x="3212765" y="110882"/>
                  </a:lnTo>
                  <a:lnTo>
                    <a:pt x="3176084" y="86102"/>
                  </a:lnTo>
                  <a:lnTo>
                    <a:pt x="3137466" y="64146"/>
                  </a:lnTo>
                  <a:lnTo>
                    <a:pt x="3097059" y="45162"/>
                  </a:lnTo>
                  <a:lnTo>
                    <a:pt x="3055012" y="29298"/>
                  </a:lnTo>
                  <a:lnTo>
                    <a:pt x="3011472" y="16702"/>
                  </a:lnTo>
                  <a:lnTo>
                    <a:pt x="2966587" y="7521"/>
                  </a:lnTo>
                  <a:lnTo>
                    <a:pt x="2920505" y="1905"/>
                  </a:lnTo>
                  <a:lnTo>
                    <a:pt x="287337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71975" y="1590675"/>
              <a:ext cx="3448050" cy="4781550"/>
            </a:xfrm>
            <a:custGeom>
              <a:avLst/>
              <a:gdLst/>
              <a:ahLst/>
              <a:cxnLst/>
              <a:rect l="l" t="t" r="r" b="b"/>
              <a:pathLst>
                <a:path w="3448050" h="4781550">
                  <a:moveTo>
                    <a:pt x="0" y="574675"/>
                  </a:moveTo>
                  <a:lnTo>
                    <a:pt x="1905" y="527544"/>
                  </a:lnTo>
                  <a:lnTo>
                    <a:pt x="7521" y="481462"/>
                  </a:lnTo>
                  <a:lnTo>
                    <a:pt x="16702" y="436577"/>
                  </a:lnTo>
                  <a:lnTo>
                    <a:pt x="29298" y="393037"/>
                  </a:lnTo>
                  <a:lnTo>
                    <a:pt x="45162" y="350990"/>
                  </a:lnTo>
                  <a:lnTo>
                    <a:pt x="64146" y="310583"/>
                  </a:lnTo>
                  <a:lnTo>
                    <a:pt x="86102" y="271965"/>
                  </a:lnTo>
                  <a:lnTo>
                    <a:pt x="110882" y="235284"/>
                  </a:lnTo>
                  <a:lnTo>
                    <a:pt x="138338" y="200687"/>
                  </a:lnTo>
                  <a:lnTo>
                    <a:pt x="168322" y="168322"/>
                  </a:lnTo>
                  <a:lnTo>
                    <a:pt x="200687" y="138338"/>
                  </a:lnTo>
                  <a:lnTo>
                    <a:pt x="235284" y="110882"/>
                  </a:lnTo>
                  <a:lnTo>
                    <a:pt x="271965" y="86102"/>
                  </a:lnTo>
                  <a:lnTo>
                    <a:pt x="310583" y="64146"/>
                  </a:lnTo>
                  <a:lnTo>
                    <a:pt x="350990" y="45162"/>
                  </a:lnTo>
                  <a:lnTo>
                    <a:pt x="393037" y="29298"/>
                  </a:lnTo>
                  <a:lnTo>
                    <a:pt x="436577" y="16702"/>
                  </a:lnTo>
                  <a:lnTo>
                    <a:pt x="481462" y="7521"/>
                  </a:lnTo>
                  <a:lnTo>
                    <a:pt x="527544" y="1905"/>
                  </a:lnTo>
                  <a:lnTo>
                    <a:pt x="574675" y="0"/>
                  </a:lnTo>
                  <a:lnTo>
                    <a:pt x="2873375" y="0"/>
                  </a:lnTo>
                  <a:lnTo>
                    <a:pt x="2920505" y="1905"/>
                  </a:lnTo>
                  <a:lnTo>
                    <a:pt x="2966587" y="7521"/>
                  </a:lnTo>
                  <a:lnTo>
                    <a:pt x="3011472" y="16702"/>
                  </a:lnTo>
                  <a:lnTo>
                    <a:pt x="3055012" y="29298"/>
                  </a:lnTo>
                  <a:lnTo>
                    <a:pt x="3097059" y="45162"/>
                  </a:lnTo>
                  <a:lnTo>
                    <a:pt x="3137466" y="64146"/>
                  </a:lnTo>
                  <a:lnTo>
                    <a:pt x="3176084" y="86102"/>
                  </a:lnTo>
                  <a:lnTo>
                    <a:pt x="3212765" y="110882"/>
                  </a:lnTo>
                  <a:lnTo>
                    <a:pt x="3247362" y="138338"/>
                  </a:lnTo>
                  <a:lnTo>
                    <a:pt x="3279727" y="168322"/>
                  </a:lnTo>
                  <a:lnTo>
                    <a:pt x="3309711" y="200687"/>
                  </a:lnTo>
                  <a:lnTo>
                    <a:pt x="3337167" y="235284"/>
                  </a:lnTo>
                  <a:lnTo>
                    <a:pt x="3361947" y="271965"/>
                  </a:lnTo>
                  <a:lnTo>
                    <a:pt x="3383903" y="310583"/>
                  </a:lnTo>
                  <a:lnTo>
                    <a:pt x="3402887" y="350990"/>
                  </a:lnTo>
                  <a:lnTo>
                    <a:pt x="3418751" y="393037"/>
                  </a:lnTo>
                  <a:lnTo>
                    <a:pt x="3431347" y="436577"/>
                  </a:lnTo>
                  <a:lnTo>
                    <a:pt x="3440528" y="481462"/>
                  </a:lnTo>
                  <a:lnTo>
                    <a:pt x="3446144" y="527544"/>
                  </a:lnTo>
                  <a:lnTo>
                    <a:pt x="3448050" y="574675"/>
                  </a:lnTo>
                  <a:lnTo>
                    <a:pt x="3448050" y="4206862"/>
                  </a:lnTo>
                  <a:lnTo>
                    <a:pt x="3446144" y="4253994"/>
                  </a:lnTo>
                  <a:lnTo>
                    <a:pt x="3440528" y="4300078"/>
                  </a:lnTo>
                  <a:lnTo>
                    <a:pt x="3431347" y="4344964"/>
                  </a:lnTo>
                  <a:lnTo>
                    <a:pt x="3418751" y="4388505"/>
                  </a:lnTo>
                  <a:lnTo>
                    <a:pt x="3402887" y="4430554"/>
                  </a:lnTo>
                  <a:lnTo>
                    <a:pt x="3383903" y="4470961"/>
                  </a:lnTo>
                  <a:lnTo>
                    <a:pt x="3361947" y="4509580"/>
                  </a:lnTo>
                  <a:lnTo>
                    <a:pt x="3337167" y="4546262"/>
                  </a:lnTo>
                  <a:lnTo>
                    <a:pt x="3309711" y="4580860"/>
                  </a:lnTo>
                  <a:lnTo>
                    <a:pt x="3279727" y="4613225"/>
                  </a:lnTo>
                  <a:lnTo>
                    <a:pt x="3247362" y="4643210"/>
                  </a:lnTo>
                  <a:lnTo>
                    <a:pt x="3212765" y="4670667"/>
                  </a:lnTo>
                  <a:lnTo>
                    <a:pt x="3176084" y="4695447"/>
                  </a:lnTo>
                  <a:lnTo>
                    <a:pt x="3137466" y="4717403"/>
                  </a:lnTo>
                  <a:lnTo>
                    <a:pt x="3097059" y="4736387"/>
                  </a:lnTo>
                  <a:lnTo>
                    <a:pt x="3055012" y="4752251"/>
                  </a:lnTo>
                  <a:lnTo>
                    <a:pt x="3011472" y="4764847"/>
                  </a:lnTo>
                  <a:lnTo>
                    <a:pt x="2966587" y="4774028"/>
                  </a:lnTo>
                  <a:lnTo>
                    <a:pt x="2920505" y="4779644"/>
                  </a:lnTo>
                  <a:lnTo>
                    <a:pt x="2873375" y="4781550"/>
                  </a:lnTo>
                  <a:lnTo>
                    <a:pt x="574675" y="4781550"/>
                  </a:lnTo>
                  <a:lnTo>
                    <a:pt x="527544" y="4779644"/>
                  </a:lnTo>
                  <a:lnTo>
                    <a:pt x="481462" y="4774028"/>
                  </a:lnTo>
                  <a:lnTo>
                    <a:pt x="436577" y="4764847"/>
                  </a:lnTo>
                  <a:lnTo>
                    <a:pt x="393037" y="4752251"/>
                  </a:lnTo>
                  <a:lnTo>
                    <a:pt x="350990" y="4736387"/>
                  </a:lnTo>
                  <a:lnTo>
                    <a:pt x="310583" y="4717403"/>
                  </a:lnTo>
                  <a:lnTo>
                    <a:pt x="271965" y="4695447"/>
                  </a:lnTo>
                  <a:lnTo>
                    <a:pt x="235284" y="4670667"/>
                  </a:lnTo>
                  <a:lnTo>
                    <a:pt x="200687" y="4643210"/>
                  </a:lnTo>
                  <a:lnTo>
                    <a:pt x="168322" y="4613225"/>
                  </a:lnTo>
                  <a:lnTo>
                    <a:pt x="138338" y="4580860"/>
                  </a:lnTo>
                  <a:lnTo>
                    <a:pt x="110882" y="4546262"/>
                  </a:lnTo>
                  <a:lnTo>
                    <a:pt x="86102" y="4509580"/>
                  </a:lnTo>
                  <a:lnTo>
                    <a:pt x="64146" y="4470961"/>
                  </a:lnTo>
                  <a:lnTo>
                    <a:pt x="45162" y="4430554"/>
                  </a:lnTo>
                  <a:lnTo>
                    <a:pt x="29298" y="4388505"/>
                  </a:lnTo>
                  <a:lnTo>
                    <a:pt x="16702" y="4344964"/>
                  </a:lnTo>
                  <a:lnTo>
                    <a:pt x="7521" y="4300078"/>
                  </a:lnTo>
                  <a:lnTo>
                    <a:pt x="1905" y="4253994"/>
                  </a:lnTo>
                  <a:lnTo>
                    <a:pt x="0" y="4206862"/>
                  </a:lnTo>
                  <a:lnTo>
                    <a:pt x="0" y="5746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022469" y="1833562"/>
            <a:ext cx="21590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Целевая</a:t>
            </a:r>
            <a:r>
              <a:rPr dirty="0" sz="2000" spc="-2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50" b="1">
                <a:solidFill>
                  <a:srgbClr val="FFFFFF"/>
                </a:solidFill>
                <a:latin typeface="Arial"/>
                <a:cs typeface="Arial"/>
              </a:rPr>
              <a:t>аудитория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21529" y="2443480"/>
            <a:ext cx="2954655" cy="33877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8450" marR="36830" indent="-285750">
              <a:lnSpc>
                <a:spcPct val="100000"/>
              </a:lnSpc>
              <a:spcBef>
                <a:spcPts val="130"/>
              </a:spcBef>
              <a:buFont typeface="Calibri"/>
              <a:buChar char="-"/>
              <a:tabLst>
                <a:tab pos="298450" algn="l"/>
              </a:tabLst>
            </a:pPr>
            <a:r>
              <a:rPr dirty="0" sz="2000" spc="-90" b="1">
                <a:solidFill>
                  <a:srgbClr val="FFFFFF"/>
                </a:solidFill>
                <a:latin typeface="Arial"/>
                <a:cs typeface="Arial"/>
              </a:rPr>
              <a:t>Преподаватели </a:t>
            </a: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информатики</a:t>
            </a:r>
            <a:r>
              <a:rPr dirty="0" sz="2000" spc="-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и </a:t>
            </a:r>
            <a:r>
              <a:rPr dirty="0" sz="2000" spc="-140" b="1">
                <a:solidFill>
                  <a:srgbClr val="FFFFFF"/>
                </a:solidFill>
                <a:latin typeface="Arial"/>
                <a:cs typeface="Arial"/>
              </a:rPr>
              <a:t>математики</a:t>
            </a:r>
            <a:r>
              <a:rPr dirty="0" sz="20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Arial"/>
                <a:cs typeface="Arial"/>
              </a:rPr>
              <a:t>как </a:t>
            </a:r>
            <a:r>
              <a:rPr dirty="0" sz="2000" spc="-100" b="1">
                <a:solidFill>
                  <a:srgbClr val="FFFFFF"/>
                </a:solidFill>
                <a:latin typeface="Arial"/>
                <a:cs typeface="Arial"/>
              </a:rPr>
              <a:t>демонстрационный </a:t>
            </a:r>
            <a:r>
              <a:rPr dirty="0" sz="2000" spc="-165" b="1">
                <a:solidFill>
                  <a:srgbClr val="FFFFFF"/>
                </a:solidFill>
                <a:latin typeface="Arial"/>
                <a:cs typeface="Arial"/>
              </a:rPr>
              <a:t>материал</a:t>
            </a:r>
            <a:r>
              <a:rPr dirty="0" sz="20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65" b="1">
                <a:solidFill>
                  <a:srgbClr val="FFFFFF"/>
                </a:solidFill>
                <a:latin typeface="Arial"/>
                <a:cs typeface="Arial"/>
              </a:rPr>
              <a:t>при</a:t>
            </a:r>
            <a:r>
              <a:rPr dirty="0" sz="2000" spc="-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20" b="1">
                <a:solidFill>
                  <a:srgbClr val="FFFFFF"/>
                </a:solidFill>
                <a:latin typeface="Arial"/>
                <a:cs typeface="Arial"/>
              </a:rPr>
              <a:t>изучении </a:t>
            </a:r>
            <a:r>
              <a:rPr dirty="0" sz="2000" spc="-80" b="1">
                <a:solidFill>
                  <a:srgbClr val="FFFFFF"/>
                </a:solidFill>
                <a:latin typeface="Arial"/>
                <a:cs typeface="Arial"/>
              </a:rPr>
              <a:t>алгоритмов.</a:t>
            </a:r>
            <a:endParaRPr sz="20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20"/>
              </a:spcBef>
              <a:buFont typeface="Calibri"/>
              <a:buChar char="-"/>
              <a:tabLst>
                <a:tab pos="298450" algn="l"/>
              </a:tabLst>
            </a:pP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Школьники</a:t>
            </a:r>
            <a:r>
              <a:rPr dirty="0" sz="2000" spc="-1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старших </a:t>
            </a:r>
            <a:r>
              <a:rPr dirty="0" sz="2000" spc="-170" b="1">
                <a:solidFill>
                  <a:srgbClr val="FFFFFF"/>
                </a:solidFill>
                <a:latin typeface="Arial"/>
                <a:cs typeface="Arial"/>
              </a:rPr>
              <a:t>классов</a:t>
            </a:r>
            <a:r>
              <a:rPr dirty="0" sz="2000" spc="-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3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2000" spc="-2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FFFFFF"/>
                </a:solidFill>
                <a:latin typeface="Arial"/>
                <a:cs typeface="Arial"/>
              </a:rPr>
              <a:t>студенты </a:t>
            </a: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младших</a:t>
            </a:r>
            <a:r>
              <a:rPr dirty="0" sz="2000" spc="-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курсов, </a:t>
            </a:r>
            <a:r>
              <a:rPr dirty="0" sz="2000" spc="-80" b="1">
                <a:solidFill>
                  <a:srgbClr val="FFFFFF"/>
                </a:solidFill>
                <a:latin typeface="Arial"/>
                <a:cs typeface="Arial"/>
              </a:rPr>
              <a:t>интересующиеся </a:t>
            </a:r>
            <a:r>
              <a:rPr dirty="0" sz="2000" spc="-150" b="1">
                <a:solidFill>
                  <a:srgbClr val="FFFFFF"/>
                </a:solidFill>
                <a:latin typeface="Arial"/>
                <a:cs typeface="Arial"/>
              </a:rPr>
              <a:t>логическими</a:t>
            </a:r>
            <a:r>
              <a:rPr dirty="0" sz="2000" spc="-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FFFFFF"/>
                </a:solidFill>
                <a:latin typeface="Arial"/>
                <a:cs typeface="Arial"/>
              </a:rPr>
              <a:t>задачами.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191500" y="1581150"/>
            <a:ext cx="3476625" cy="4800600"/>
            <a:chOff x="8191500" y="1581150"/>
            <a:chExt cx="3476625" cy="4800600"/>
          </a:xfrm>
        </p:grpSpPr>
        <p:sp>
          <p:nvSpPr>
            <p:cNvPr id="14" name="object 14" descr=""/>
            <p:cNvSpPr/>
            <p:nvPr/>
          </p:nvSpPr>
          <p:spPr>
            <a:xfrm>
              <a:off x="8201025" y="1590675"/>
              <a:ext cx="3457575" cy="4781550"/>
            </a:xfrm>
            <a:custGeom>
              <a:avLst/>
              <a:gdLst/>
              <a:ahLst/>
              <a:cxnLst/>
              <a:rect l="l" t="t" r="r" b="b"/>
              <a:pathLst>
                <a:path w="3457575" h="4781550">
                  <a:moveTo>
                    <a:pt x="2881249" y="0"/>
                  </a:moveTo>
                  <a:lnTo>
                    <a:pt x="576326" y="0"/>
                  </a:lnTo>
                  <a:lnTo>
                    <a:pt x="529062" y="1910"/>
                  </a:lnTo>
                  <a:lnTo>
                    <a:pt x="482851" y="7544"/>
                  </a:lnTo>
                  <a:lnTo>
                    <a:pt x="437839" y="16751"/>
                  </a:lnTo>
                  <a:lnTo>
                    <a:pt x="394175" y="29384"/>
                  </a:lnTo>
                  <a:lnTo>
                    <a:pt x="352008" y="45295"/>
                  </a:lnTo>
                  <a:lnTo>
                    <a:pt x="311486" y="64334"/>
                  </a:lnTo>
                  <a:lnTo>
                    <a:pt x="272757" y="86355"/>
                  </a:lnTo>
                  <a:lnTo>
                    <a:pt x="235970" y="111207"/>
                  </a:lnTo>
                  <a:lnTo>
                    <a:pt x="201273" y="138743"/>
                  </a:lnTo>
                  <a:lnTo>
                    <a:pt x="168814" y="168814"/>
                  </a:lnTo>
                  <a:lnTo>
                    <a:pt x="138743" y="201273"/>
                  </a:lnTo>
                  <a:lnTo>
                    <a:pt x="111207" y="235970"/>
                  </a:lnTo>
                  <a:lnTo>
                    <a:pt x="86355" y="272757"/>
                  </a:lnTo>
                  <a:lnTo>
                    <a:pt x="64334" y="311486"/>
                  </a:lnTo>
                  <a:lnTo>
                    <a:pt x="45295" y="352008"/>
                  </a:lnTo>
                  <a:lnTo>
                    <a:pt x="29384" y="394175"/>
                  </a:lnTo>
                  <a:lnTo>
                    <a:pt x="16751" y="437839"/>
                  </a:lnTo>
                  <a:lnTo>
                    <a:pt x="7544" y="482851"/>
                  </a:lnTo>
                  <a:lnTo>
                    <a:pt x="1910" y="529062"/>
                  </a:lnTo>
                  <a:lnTo>
                    <a:pt x="0" y="576326"/>
                  </a:lnTo>
                  <a:lnTo>
                    <a:pt x="0" y="4205274"/>
                  </a:lnTo>
                  <a:lnTo>
                    <a:pt x="1910" y="4252537"/>
                  </a:lnTo>
                  <a:lnTo>
                    <a:pt x="7544" y="4298748"/>
                  </a:lnTo>
                  <a:lnTo>
                    <a:pt x="16751" y="4343758"/>
                  </a:lnTo>
                  <a:lnTo>
                    <a:pt x="29384" y="4387420"/>
                  </a:lnTo>
                  <a:lnTo>
                    <a:pt x="45295" y="4429584"/>
                  </a:lnTo>
                  <a:lnTo>
                    <a:pt x="64334" y="4470103"/>
                  </a:lnTo>
                  <a:lnTo>
                    <a:pt x="86355" y="4508829"/>
                  </a:lnTo>
                  <a:lnTo>
                    <a:pt x="111207" y="4545612"/>
                  </a:lnTo>
                  <a:lnTo>
                    <a:pt x="138743" y="4580306"/>
                  </a:lnTo>
                  <a:lnTo>
                    <a:pt x="168814" y="4612760"/>
                  </a:lnTo>
                  <a:lnTo>
                    <a:pt x="201273" y="4642828"/>
                  </a:lnTo>
                  <a:lnTo>
                    <a:pt x="235970" y="4670360"/>
                  </a:lnTo>
                  <a:lnTo>
                    <a:pt x="272757" y="4695209"/>
                  </a:lnTo>
                  <a:lnTo>
                    <a:pt x="311486" y="4717226"/>
                  </a:lnTo>
                  <a:lnTo>
                    <a:pt x="352008" y="4736262"/>
                  </a:lnTo>
                  <a:lnTo>
                    <a:pt x="394175" y="4752170"/>
                  </a:lnTo>
                  <a:lnTo>
                    <a:pt x="437839" y="4764801"/>
                  </a:lnTo>
                  <a:lnTo>
                    <a:pt x="482851" y="4774007"/>
                  </a:lnTo>
                  <a:lnTo>
                    <a:pt x="529062" y="4779639"/>
                  </a:lnTo>
                  <a:lnTo>
                    <a:pt x="576326" y="4781550"/>
                  </a:lnTo>
                  <a:lnTo>
                    <a:pt x="2881249" y="4781550"/>
                  </a:lnTo>
                  <a:lnTo>
                    <a:pt x="2928512" y="4779639"/>
                  </a:lnTo>
                  <a:lnTo>
                    <a:pt x="2974723" y="4774007"/>
                  </a:lnTo>
                  <a:lnTo>
                    <a:pt x="3019735" y="4764801"/>
                  </a:lnTo>
                  <a:lnTo>
                    <a:pt x="3063399" y="4752170"/>
                  </a:lnTo>
                  <a:lnTo>
                    <a:pt x="3105566" y="4736262"/>
                  </a:lnTo>
                  <a:lnTo>
                    <a:pt x="3146088" y="4717226"/>
                  </a:lnTo>
                  <a:lnTo>
                    <a:pt x="3184817" y="4695209"/>
                  </a:lnTo>
                  <a:lnTo>
                    <a:pt x="3221604" y="4670360"/>
                  </a:lnTo>
                  <a:lnTo>
                    <a:pt x="3256301" y="4642828"/>
                  </a:lnTo>
                  <a:lnTo>
                    <a:pt x="3288760" y="4612760"/>
                  </a:lnTo>
                  <a:lnTo>
                    <a:pt x="3318831" y="4580306"/>
                  </a:lnTo>
                  <a:lnTo>
                    <a:pt x="3346367" y="4545612"/>
                  </a:lnTo>
                  <a:lnTo>
                    <a:pt x="3371219" y="4508829"/>
                  </a:lnTo>
                  <a:lnTo>
                    <a:pt x="3393240" y="4470103"/>
                  </a:lnTo>
                  <a:lnTo>
                    <a:pt x="3412279" y="4429584"/>
                  </a:lnTo>
                  <a:lnTo>
                    <a:pt x="3428190" y="4387420"/>
                  </a:lnTo>
                  <a:lnTo>
                    <a:pt x="3440823" y="4343758"/>
                  </a:lnTo>
                  <a:lnTo>
                    <a:pt x="3450030" y="4298748"/>
                  </a:lnTo>
                  <a:lnTo>
                    <a:pt x="3455664" y="4252537"/>
                  </a:lnTo>
                  <a:lnTo>
                    <a:pt x="3457575" y="4205274"/>
                  </a:lnTo>
                  <a:lnTo>
                    <a:pt x="3457575" y="576326"/>
                  </a:lnTo>
                  <a:lnTo>
                    <a:pt x="3455664" y="529062"/>
                  </a:lnTo>
                  <a:lnTo>
                    <a:pt x="3450030" y="482851"/>
                  </a:lnTo>
                  <a:lnTo>
                    <a:pt x="3440823" y="437839"/>
                  </a:lnTo>
                  <a:lnTo>
                    <a:pt x="3428190" y="394175"/>
                  </a:lnTo>
                  <a:lnTo>
                    <a:pt x="3412279" y="352008"/>
                  </a:lnTo>
                  <a:lnTo>
                    <a:pt x="3393240" y="311486"/>
                  </a:lnTo>
                  <a:lnTo>
                    <a:pt x="3371219" y="272757"/>
                  </a:lnTo>
                  <a:lnTo>
                    <a:pt x="3346367" y="235970"/>
                  </a:lnTo>
                  <a:lnTo>
                    <a:pt x="3318831" y="201273"/>
                  </a:lnTo>
                  <a:lnTo>
                    <a:pt x="3288760" y="168814"/>
                  </a:lnTo>
                  <a:lnTo>
                    <a:pt x="3256301" y="138743"/>
                  </a:lnTo>
                  <a:lnTo>
                    <a:pt x="3221604" y="111207"/>
                  </a:lnTo>
                  <a:lnTo>
                    <a:pt x="3184817" y="86355"/>
                  </a:lnTo>
                  <a:lnTo>
                    <a:pt x="3146088" y="64334"/>
                  </a:lnTo>
                  <a:lnTo>
                    <a:pt x="3105566" y="45295"/>
                  </a:lnTo>
                  <a:lnTo>
                    <a:pt x="3063399" y="29384"/>
                  </a:lnTo>
                  <a:lnTo>
                    <a:pt x="3019735" y="16751"/>
                  </a:lnTo>
                  <a:lnTo>
                    <a:pt x="2974723" y="7544"/>
                  </a:lnTo>
                  <a:lnTo>
                    <a:pt x="2928512" y="1910"/>
                  </a:lnTo>
                  <a:lnTo>
                    <a:pt x="288124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01025" y="1590675"/>
              <a:ext cx="3457575" cy="4781550"/>
            </a:xfrm>
            <a:custGeom>
              <a:avLst/>
              <a:gdLst/>
              <a:ahLst/>
              <a:cxnLst/>
              <a:rect l="l" t="t" r="r" b="b"/>
              <a:pathLst>
                <a:path w="3457575" h="4781550">
                  <a:moveTo>
                    <a:pt x="0" y="576326"/>
                  </a:moveTo>
                  <a:lnTo>
                    <a:pt x="1910" y="529062"/>
                  </a:lnTo>
                  <a:lnTo>
                    <a:pt x="7544" y="482851"/>
                  </a:lnTo>
                  <a:lnTo>
                    <a:pt x="16751" y="437839"/>
                  </a:lnTo>
                  <a:lnTo>
                    <a:pt x="29384" y="394175"/>
                  </a:lnTo>
                  <a:lnTo>
                    <a:pt x="45295" y="352008"/>
                  </a:lnTo>
                  <a:lnTo>
                    <a:pt x="64334" y="311486"/>
                  </a:lnTo>
                  <a:lnTo>
                    <a:pt x="86355" y="272757"/>
                  </a:lnTo>
                  <a:lnTo>
                    <a:pt x="111207" y="235970"/>
                  </a:lnTo>
                  <a:lnTo>
                    <a:pt x="138743" y="201273"/>
                  </a:lnTo>
                  <a:lnTo>
                    <a:pt x="168814" y="168814"/>
                  </a:lnTo>
                  <a:lnTo>
                    <a:pt x="201273" y="138743"/>
                  </a:lnTo>
                  <a:lnTo>
                    <a:pt x="235970" y="111207"/>
                  </a:lnTo>
                  <a:lnTo>
                    <a:pt x="272757" y="86355"/>
                  </a:lnTo>
                  <a:lnTo>
                    <a:pt x="311486" y="64334"/>
                  </a:lnTo>
                  <a:lnTo>
                    <a:pt x="352008" y="45295"/>
                  </a:lnTo>
                  <a:lnTo>
                    <a:pt x="394175" y="29384"/>
                  </a:lnTo>
                  <a:lnTo>
                    <a:pt x="437839" y="16751"/>
                  </a:lnTo>
                  <a:lnTo>
                    <a:pt x="482851" y="7544"/>
                  </a:lnTo>
                  <a:lnTo>
                    <a:pt x="529062" y="1910"/>
                  </a:lnTo>
                  <a:lnTo>
                    <a:pt x="576326" y="0"/>
                  </a:lnTo>
                  <a:lnTo>
                    <a:pt x="2881249" y="0"/>
                  </a:lnTo>
                  <a:lnTo>
                    <a:pt x="2928512" y="1910"/>
                  </a:lnTo>
                  <a:lnTo>
                    <a:pt x="2974723" y="7544"/>
                  </a:lnTo>
                  <a:lnTo>
                    <a:pt x="3019735" y="16751"/>
                  </a:lnTo>
                  <a:lnTo>
                    <a:pt x="3063399" y="29384"/>
                  </a:lnTo>
                  <a:lnTo>
                    <a:pt x="3105566" y="45295"/>
                  </a:lnTo>
                  <a:lnTo>
                    <a:pt x="3146088" y="64334"/>
                  </a:lnTo>
                  <a:lnTo>
                    <a:pt x="3184817" y="86355"/>
                  </a:lnTo>
                  <a:lnTo>
                    <a:pt x="3221604" y="111207"/>
                  </a:lnTo>
                  <a:lnTo>
                    <a:pt x="3256301" y="138743"/>
                  </a:lnTo>
                  <a:lnTo>
                    <a:pt x="3288760" y="168814"/>
                  </a:lnTo>
                  <a:lnTo>
                    <a:pt x="3318831" y="201273"/>
                  </a:lnTo>
                  <a:lnTo>
                    <a:pt x="3346367" y="235970"/>
                  </a:lnTo>
                  <a:lnTo>
                    <a:pt x="3371219" y="272757"/>
                  </a:lnTo>
                  <a:lnTo>
                    <a:pt x="3393240" y="311486"/>
                  </a:lnTo>
                  <a:lnTo>
                    <a:pt x="3412279" y="352008"/>
                  </a:lnTo>
                  <a:lnTo>
                    <a:pt x="3428190" y="394175"/>
                  </a:lnTo>
                  <a:lnTo>
                    <a:pt x="3440823" y="437839"/>
                  </a:lnTo>
                  <a:lnTo>
                    <a:pt x="3450030" y="482851"/>
                  </a:lnTo>
                  <a:lnTo>
                    <a:pt x="3455664" y="529062"/>
                  </a:lnTo>
                  <a:lnTo>
                    <a:pt x="3457575" y="576326"/>
                  </a:lnTo>
                  <a:lnTo>
                    <a:pt x="3457575" y="4205274"/>
                  </a:lnTo>
                  <a:lnTo>
                    <a:pt x="3455664" y="4252537"/>
                  </a:lnTo>
                  <a:lnTo>
                    <a:pt x="3450030" y="4298748"/>
                  </a:lnTo>
                  <a:lnTo>
                    <a:pt x="3440823" y="4343758"/>
                  </a:lnTo>
                  <a:lnTo>
                    <a:pt x="3428190" y="4387420"/>
                  </a:lnTo>
                  <a:lnTo>
                    <a:pt x="3412279" y="4429584"/>
                  </a:lnTo>
                  <a:lnTo>
                    <a:pt x="3393240" y="4470103"/>
                  </a:lnTo>
                  <a:lnTo>
                    <a:pt x="3371219" y="4508829"/>
                  </a:lnTo>
                  <a:lnTo>
                    <a:pt x="3346367" y="4545612"/>
                  </a:lnTo>
                  <a:lnTo>
                    <a:pt x="3318831" y="4580306"/>
                  </a:lnTo>
                  <a:lnTo>
                    <a:pt x="3288760" y="4612760"/>
                  </a:lnTo>
                  <a:lnTo>
                    <a:pt x="3256301" y="4642828"/>
                  </a:lnTo>
                  <a:lnTo>
                    <a:pt x="3221604" y="4670360"/>
                  </a:lnTo>
                  <a:lnTo>
                    <a:pt x="3184817" y="4695209"/>
                  </a:lnTo>
                  <a:lnTo>
                    <a:pt x="3146088" y="4717226"/>
                  </a:lnTo>
                  <a:lnTo>
                    <a:pt x="3105566" y="4736262"/>
                  </a:lnTo>
                  <a:lnTo>
                    <a:pt x="3063399" y="4752170"/>
                  </a:lnTo>
                  <a:lnTo>
                    <a:pt x="3019735" y="4764801"/>
                  </a:lnTo>
                  <a:lnTo>
                    <a:pt x="2974723" y="4774007"/>
                  </a:lnTo>
                  <a:lnTo>
                    <a:pt x="2928512" y="4779639"/>
                  </a:lnTo>
                  <a:lnTo>
                    <a:pt x="2881249" y="4781550"/>
                  </a:lnTo>
                  <a:lnTo>
                    <a:pt x="576326" y="4781550"/>
                  </a:lnTo>
                  <a:lnTo>
                    <a:pt x="529062" y="4779639"/>
                  </a:lnTo>
                  <a:lnTo>
                    <a:pt x="482851" y="4774007"/>
                  </a:lnTo>
                  <a:lnTo>
                    <a:pt x="437839" y="4764801"/>
                  </a:lnTo>
                  <a:lnTo>
                    <a:pt x="394175" y="4752170"/>
                  </a:lnTo>
                  <a:lnTo>
                    <a:pt x="352008" y="4736262"/>
                  </a:lnTo>
                  <a:lnTo>
                    <a:pt x="311486" y="4717226"/>
                  </a:lnTo>
                  <a:lnTo>
                    <a:pt x="272757" y="4695209"/>
                  </a:lnTo>
                  <a:lnTo>
                    <a:pt x="235970" y="4670360"/>
                  </a:lnTo>
                  <a:lnTo>
                    <a:pt x="201273" y="4642828"/>
                  </a:lnTo>
                  <a:lnTo>
                    <a:pt x="168814" y="4612760"/>
                  </a:lnTo>
                  <a:lnTo>
                    <a:pt x="138743" y="4580306"/>
                  </a:lnTo>
                  <a:lnTo>
                    <a:pt x="111207" y="4545612"/>
                  </a:lnTo>
                  <a:lnTo>
                    <a:pt x="86355" y="4508829"/>
                  </a:lnTo>
                  <a:lnTo>
                    <a:pt x="64334" y="4470103"/>
                  </a:lnTo>
                  <a:lnTo>
                    <a:pt x="45295" y="4429584"/>
                  </a:lnTo>
                  <a:lnTo>
                    <a:pt x="29384" y="4387420"/>
                  </a:lnTo>
                  <a:lnTo>
                    <a:pt x="16751" y="4343758"/>
                  </a:lnTo>
                  <a:lnTo>
                    <a:pt x="7544" y="4298748"/>
                  </a:lnTo>
                  <a:lnTo>
                    <a:pt x="1910" y="4252537"/>
                  </a:lnTo>
                  <a:lnTo>
                    <a:pt x="0" y="4205274"/>
                  </a:lnTo>
                  <a:lnTo>
                    <a:pt x="0" y="576326"/>
                  </a:lnTo>
                  <a:close/>
                </a:path>
              </a:pathLst>
            </a:custGeom>
            <a:ln w="19050">
              <a:solidFill>
                <a:srgbClr val="1717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098915" y="2138616"/>
            <a:ext cx="1676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90" b="1">
                <a:solidFill>
                  <a:srgbClr val="FFFFFF"/>
                </a:solidFill>
                <a:latin typeface="Arial"/>
                <a:cs typeface="Arial"/>
              </a:rPr>
              <a:t>Основная</a:t>
            </a:r>
            <a:r>
              <a:rPr dirty="0" sz="2000" spc="-1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14" b="1">
                <a:solidFill>
                  <a:srgbClr val="FFFFFF"/>
                </a:solidFill>
                <a:latin typeface="Arial"/>
                <a:cs typeface="Arial"/>
              </a:rPr>
              <a:t>идея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457183" y="2749232"/>
            <a:ext cx="2770505" cy="27762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25"/>
              </a:spcBef>
              <a:buFont typeface="Calibri"/>
              <a:buChar char="-"/>
              <a:tabLst>
                <a:tab pos="298450" algn="l"/>
              </a:tabLst>
            </a:pP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Угадывание </a:t>
            </a:r>
            <a:r>
              <a:rPr dirty="0" sz="2000" spc="-165" b="1">
                <a:solidFill>
                  <a:srgbClr val="FFFFFF"/>
                </a:solidFill>
                <a:latin typeface="Arial"/>
                <a:cs typeface="Arial"/>
              </a:rPr>
              <a:t>числа</a:t>
            </a:r>
            <a:r>
              <a:rPr dirty="0" sz="2000" spc="-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с </a:t>
            </a:r>
            <a:r>
              <a:rPr dirty="0" sz="2000" spc="-130" b="1">
                <a:solidFill>
                  <a:srgbClr val="FFFFFF"/>
                </a:solidFill>
                <a:latin typeface="Arial"/>
                <a:cs typeface="Arial"/>
              </a:rPr>
              <a:t>подсказками</a:t>
            </a:r>
            <a:r>
              <a:rPr dirty="0" sz="20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40" b="1">
                <a:solidFill>
                  <a:srgbClr val="FFFFFF"/>
                </a:solidFill>
                <a:latin typeface="Arial"/>
                <a:cs typeface="Arial"/>
              </a:rPr>
              <a:t>«быки»</a:t>
            </a:r>
            <a:r>
              <a:rPr dirty="0" sz="2000" spc="-1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endParaRPr sz="2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 spc="-120" b="1">
                <a:solidFill>
                  <a:srgbClr val="FFFFFF"/>
                </a:solidFill>
                <a:latin typeface="Arial"/>
                <a:cs typeface="Arial"/>
              </a:rPr>
              <a:t>«коровы»</a:t>
            </a:r>
            <a:endParaRPr sz="2000">
              <a:latin typeface="Arial"/>
              <a:cs typeface="Arial"/>
            </a:endParaRPr>
          </a:p>
          <a:p>
            <a:pPr marL="298450" marR="41275" indent="-285750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298450" algn="l"/>
              </a:tabLst>
            </a:pPr>
            <a:r>
              <a:rPr dirty="0" sz="2000" spc="-210" b="1">
                <a:solidFill>
                  <a:srgbClr val="FFFFFF"/>
                </a:solidFill>
                <a:latin typeface="Arial"/>
                <a:cs typeface="Arial"/>
              </a:rPr>
              <a:t>Итоговый</a:t>
            </a:r>
            <a:r>
              <a:rPr dirty="0" sz="20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65" b="1">
                <a:solidFill>
                  <a:srgbClr val="FFFFFF"/>
                </a:solidFill>
                <a:latin typeface="Arial"/>
                <a:cs typeface="Arial"/>
              </a:rPr>
              <a:t>продукт</a:t>
            </a:r>
            <a:r>
              <a:rPr dirty="0" sz="2000" spc="-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9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000" spc="-125" b="1">
                <a:solidFill>
                  <a:srgbClr val="FFFFFF"/>
                </a:solidFill>
                <a:latin typeface="Arial"/>
                <a:cs typeface="Arial"/>
              </a:rPr>
              <a:t> лёгкий,</a:t>
            </a:r>
            <a:r>
              <a:rPr dirty="0" sz="2000" spc="-1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0" b="1">
                <a:solidFill>
                  <a:srgbClr val="FFFFFF"/>
                </a:solidFill>
                <a:latin typeface="Arial"/>
                <a:cs typeface="Arial"/>
              </a:rPr>
              <a:t>понятный</a:t>
            </a:r>
            <a:r>
              <a:rPr dirty="0" sz="20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и </a:t>
            </a:r>
            <a:r>
              <a:rPr dirty="0" sz="2000" spc="-180" b="1">
                <a:solidFill>
                  <a:srgbClr val="FFFFFF"/>
                </a:solidFill>
                <a:latin typeface="Arial"/>
                <a:cs typeface="Arial"/>
              </a:rPr>
              <a:t>полезный</a:t>
            </a:r>
            <a:r>
              <a:rPr dirty="0" sz="2000" spc="-2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50" b="1">
                <a:solidFill>
                  <a:srgbClr val="FFFFFF"/>
                </a:solidFill>
                <a:latin typeface="Arial"/>
                <a:cs typeface="Arial"/>
              </a:rPr>
              <a:t>инструмент </a:t>
            </a:r>
            <a:r>
              <a:rPr dirty="0" sz="2000" spc="-200" b="1">
                <a:solidFill>
                  <a:srgbClr val="FFFFFF"/>
                </a:solidFill>
                <a:latin typeface="Arial"/>
                <a:cs typeface="Arial"/>
              </a:rPr>
              <a:t>для</a:t>
            </a:r>
            <a:r>
              <a:rPr dirty="0" sz="2000" spc="-2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FFFFFF"/>
                </a:solidFill>
                <a:latin typeface="Arial"/>
                <a:cs typeface="Arial"/>
              </a:rPr>
              <a:t>тренировки </a:t>
            </a:r>
            <a:r>
              <a:rPr dirty="0" sz="2000" spc="-65" b="1">
                <a:solidFill>
                  <a:srgbClr val="FFFFFF"/>
                </a:solidFill>
                <a:latin typeface="Arial"/>
                <a:cs typeface="Arial"/>
              </a:rPr>
              <a:t>логического мышления.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5"/>
              <a:t>Use</a:t>
            </a:r>
            <a:r>
              <a:rPr dirty="0" spc="-375"/>
              <a:t> </a:t>
            </a:r>
            <a:r>
              <a:rPr dirty="0" spc="-45"/>
              <a:t>Case</a:t>
            </a:r>
            <a:r>
              <a:rPr dirty="0" spc="-430"/>
              <a:t> </a:t>
            </a:r>
            <a:r>
              <a:rPr dirty="0" spc="-110"/>
              <a:t>диаграмма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476375"/>
            <a:ext cx="7543800" cy="47625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12809" y="1586547"/>
            <a:ext cx="215074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0" b="1">
                <a:latin typeface="Arial"/>
                <a:cs typeface="Arial"/>
              </a:rPr>
              <a:t>Текущие</a:t>
            </a:r>
            <a:r>
              <a:rPr dirty="0" sz="2000" spc="-175" b="1">
                <a:latin typeface="Arial"/>
                <a:cs typeface="Arial"/>
              </a:rPr>
              <a:t> </a:t>
            </a:r>
            <a:r>
              <a:rPr dirty="0" sz="2000" spc="-114" b="1">
                <a:latin typeface="Arial"/>
                <a:cs typeface="Arial"/>
              </a:rPr>
              <a:t>сценарии: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12809" y="1796351"/>
            <a:ext cx="183832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dirty="0" sz="2000" spc="-5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75" b="1">
                <a:latin typeface="Arial"/>
                <a:cs typeface="Arial"/>
              </a:rPr>
              <a:t>Начало</a:t>
            </a:r>
            <a:r>
              <a:rPr dirty="0" sz="2000" spc="-145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игры(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56091" y="2015236"/>
            <a:ext cx="249110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10" b="1">
                <a:latin typeface="Arial"/>
                <a:cs typeface="Arial"/>
              </a:rPr>
              <a:t>пользователь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200" b="1">
                <a:latin typeface="Arial"/>
                <a:cs typeface="Arial"/>
              </a:rPr>
              <a:t>входит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spc="-310" b="1">
                <a:latin typeface="Arial"/>
                <a:cs typeface="Arial"/>
              </a:rPr>
              <a:t>в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56091" y="2234564"/>
            <a:ext cx="221742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75" b="1">
                <a:latin typeface="Arial"/>
                <a:cs typeface="Arial"/>
              </a:rPr>
              <a:t>игру</a:t>
            </a:r>
            <a:r>
              <a:rPr dirty="0" sz="2000" spc="-160" b="1">
                <a:latin typeface="Arial"/>
                <a:cs typeface="Arial"/>
              </a:rPr>
              <a:t> </a:t>
            </a:r>
            <a:r>
              <a:rPr dirty="0" sz="2000" spc="-130" b="1">
                <a:latin typeface="Arial"/>
                <a:cs typeface="Arial"/>
              </a:rPr>
              <a:t>и</a:t>
            </a:r>
            <a:r>
              <a:rPr dirty="0" sz="2000" spc="-135" b="1">
                <a:latin typeface="Arial"/>
                <a:cs typeface="Arial"/>
              </a:rPr>
              <a:t> </a:t>
            </a:r>
            <a:r>
              <a:rPr dirty="0" sz="2000" spc="-140" b="1">
                <a:latin typeface="Arial"/>
                <a:cs typeface="Arial"/>
              </a:rPr>
              <a:t>запускает</a:t>
            </a:r>
            <a:r>
              <a:rPr dirty="0" sz="2000" spc="-145" b="1">
                <a:latin typeface="Arial"/>
                <a:cs typeface="Arial"/>
              </a:rPr>
              <a:t> </a:t>
            </a:r>
            <a:r>
              <a:rPr dirty="0" sz="2000" spc="-30" b="1">
                <a:latin typeface="Arial"/>
                <a:cs typeface="Arial"/>
              </a:rPr>
              <a:t>ее)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512809" y="2444686"/>
            <a:ext cx="291973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dirty="0" sz="2000" spc="-5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85" b="1">
                <a:latin typeface="Arial"/>
                <a:cs typeface="Arial"/>
              </a:rPr>
              <a:t>Компьютер</a:t>
            </a:r>
            <a:r>
              <a:rPr dirty="0" sz="2000" spc="-160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загадывает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56091" y="2664142"/>
            <a:ext cx="68262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55" b="1">
                <a:latin typeface="Arial"/>
                <a:cs typeface="Arial"/>
              </a:rPr>
              <a:t>число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512809" y="2883598"/>
            <a:ext cx="270129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dirty="0" sz="2000" spc="-5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10" b="1">
                <a:latin typeface="Arial"/>
                <a:cs typeface="Arial"/>
              </a:rPr>
              <a:t>Пользователь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spc="-175" b="1">
                <a:latin typeface="Arial"/>
                <a:cs typeface="Arial"/>
              </a:rPr>
              <a:t>вводит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856091" y="3093402"/>
            <a:ext cx="68262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55" b="1">
                <a:latin typeface="Arial"/>
                <a:cs typeface="Arial"/>
              </a:rPr>
              <a:t>число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12809" y="3312731"/>
            <a:ext cx="23729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latin typeface="Arial"/>
                <a:cs typeface="Arial"/>
              </a:rPr>
              <a:t>После</a:t>
            </a:r>
            <a:r>
              <a:rPr dirty="0" sz="2000" spc="-204" b="1">
                <a:latin typeface="Arial"/>
                <a:cs typeface="Arial"/>
              </a:rPr>
              <a:t> </a:t>
            </a:r>
            <a:r>
              <a:rPr dirty="0" sz="2000" spc="-130" b="1">
                <a:latin typeface="Arial"/>
                <a:cs typeface="Arial"/>
              </a:rPr>
              <a:t>каждого</a:t>
            </a:r>
            <a:r>
              <a:rPr dirty="0" sz="2000" spc="-150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ввода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12809" y="3532187"/>
            <a:ext cx="266382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0" b="1">
                <a:latin typeface="Arial"/>
                <a:cs typeface="Arial"/>
              </a:rPr>
              <a:t>проверяються</a:t>
            </a:r>
            <a:r>
              <a:rPr dirty="0" sz="2000" spc="-210" b="1">
                <a:latin typeface="Arial"/>
                <a:cs typeface="Arial"/>
              </a:rPr>
              <a:t> </a:t>
            </a:r>
            <a:r>
              <a:rPr dirty="0" sz="2000" spc="-135" b="1">
                <a:latin typeface="Arial"/>
                <a:cs typeface="Arial"/>
              </a:rPr>
              <a:t>числа,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45" b="1">
                <a:latin typeface="Arial"/>
                <a:cs typeface="Arial"/>
              </a:rPr>
              <a:t>их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512809" y="3742118"/>
            <a:ext cx="26777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0" b="1">
                <a:latin typeface="Arial"/>
                <a:cs typeface="Arial"/>
              </a:rPr>
              <a:t>наличие,</a:t>
            </a:r>
            <a:r>
              <a:rPr dirty="0" sz="2000" spc="-175" b="1">
                <a:latin typeface="Arial"/>
                <a:cs typeface="Arial"/>
              </a:rPr>
              <a:t> </a:t>
            </a:r>
            <a:r>
              <a:rPr dirty="0" sz="2000" spc="-185" b="1">
                <a:latin typeface="Arial"/>
                <a:cs typeface="Arial"/>
              </a:rPr>
              <a:t>но</a:t>
            </a:r>
            <a:r>
              <a:rPr dirty="0" sz="2000" spc="-155" b="1">
                <a:latin typeface="Arial"/>
                <a:cs typeface="Arial"/>
              </a:rPr>
              <a:t> </a:t>
            </a:r>
            <a:r>
              <a:rPr dirty="0" sz="2000" spc="-140" b="1">
                <a:latin typeface="Arial"/>
                <a:cs typeface="Arial"/>
              </a:rPr>
              <a:t>не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 spc="-150" b="1">
                <a:latin typeface="Arial"/>
                <a:cs typeface="Arial"/>
              </a:rPr>
              <a:t>на</a:t>
            </a:r>
            <a:r>
              <a:rPr dirty="0" sz="2000" spc="-190" b="1">
                <a:latin typeface="Arial"/>
                <a:cs typeface="Arial"/>
              </a:rPr>
              <a:t> </a:t>
            </a:r>
            <a:r>
              <a:rPr dirty="0" sz="2000" spc="-140" b="1">
                <a:latin typeface="Arial"/>
                <a:cs typeface="Arial"/>
              </a:rPr>
              <a:t>своём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512809" y="3961447"/>
            <a:ext cx="31349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0" b="1">
                <a:latin typeface="Arial"/>
                <a:cs typeface="Arial"/>
              </a:rPr>
              <a:t>месте</a:t>
            </a:r>
            <a:r>
              <a:rPr dirty="0" sz="2000" spc="-215" b="1">
                <a:latin typeface="Arial"/>
                <a:cs typeface="Arial"/>
              </a:rPr>
              <a:t> </a:t>
            </a:r>
            <a:r>
              <a:rPr dirty="0" sz="2000" spc="-180" b="1">
                <a:latin typeface="Arial"/>
                <a:cs typeface="Arial"/>
              </a:rPr>
              <a:t>или</a:t>
            </a:r>
            <a:r>
              <a:rPr dirty="0" sz="2000" spc="-155" b="1">
                <a:latin typeface="Arial"/>
                <a:cs typeface="Arial"/>
              </a:rPr>
              <a:t> </a:t>
            </a:r>
            <a:r>
              <a:rPr dirty="0" sz="2000" spc="-170" b="1">
                <a:latin typeface="Arial"/>
                <a:cs typeface="Arial"/>
              </a:rPr>
              <a:t>они</a:t>
            </a:r>
            <a:r>
              <a:rPr dirty="0" sz="2000" spc="-150" b="1">
                <a:latin typeface="Arial"/>
                <a:cs typeface="Arial"/>
              </a:rPr>
              <a:t> </a:t>
            </a:r>
            <a:r>
              <a:rPr dirty="0" sz="2000" spc="-190" b="1">
                <a:latin typeface="Arial"/>
                <a:cs typeface="Arial"/>
              </a:rPr>
              <a:t>есть</a:t>
            </a:r>
            <a:r>
              <a:rPr dirty="0" sz="2000" spc="-220" b="1">
                <a:latin typeface="Arial"/>
                <a:cs typeface="Arial"/>
              </a:rPr>
              <a:t> </a:t>
            </a:r>
            <a:r>
              <a:rPr dirty="0" sz="2000" spc="-114" b="1">
                <a:latin typeface="Arial"/>
                <a:cs typeface="Arial"/>
              </a:rPr>
              <a:t>на</a:t>
            </a:r>
            <a:r>
              <a:rPr dirty="0" sz="2000" spc="-200" b="1">
                <a:latin typeface="Arial"/>
                <a:cs typeface="Arial"/>
              </a:rPr>
              <a:t> </a:t>
            </a:r>
            <a:r>
              <a:rPr dirty="0" sz="2000" spc="-130" b="1">
                <a:latin typeface="Arial"/>
                <a:cs typeface="Arial"/>
              </a:rPr>
              <a:t>своем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512809" y="4180776"/>
            <a:ext cx="7423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4" b="1">
                <a:latin typeface="Arial"/>
                <a:cs typeface="Arial"/>
              </a:rPr>
              <a:t>месте.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512809" y="4390707"/>
            <a:ext cx="25628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5" b="1">
                <a:latin typeface="Arial"/>
                <a:cs typeface="Arial"/>
              </a:rPr>
              <a:t>Да</a:t>
            </a:r>
            <a:r>
              <a:rPr dirty="0" sz="2000" spc="-195" b="1">
                <a:latin typeface="Arial"/>
                <a:cs typeface="Arial"/>
              </a:rPr>
              <a:t> </a:t>
            </a:r>
            <a:r>
              <a:rPr dirty="0" sz="2000" spc="-800" b="1">
                <a:latin typeface="Arial"/>
                <a:cs typeface="Arial"/>
              </a:rPr>
              <a:t>→</a:t>
            </a:r>
            <a:r>
              <a:rPr dirty="0" sz="2000" spc="-175" b="1">
                <a:latin typeface="Arial"/>
                <a:cs typeface="Arial"/>
              </a:rPr>
              <a:t> </a:t>
            </a:r>
            <a:r>
              <a:rPr dirty="0" sz="2000" spc="-150" b="1">
                <a:latin typeface="Arial"/>
                <a:cs typeface="Arial"/>
              </a:rPr>
              <a:t>победа,</a:t>
            </a:r>
            <a:r>
              <a:rPr dirty="0" sz="2000" spc="-175" b="1">
                <a:latin typeface="Arial"/>
                <a:cs typeface="Arial"/>
              </a:rPr>
              <a:t> </a:t>
            </a:r>
            <a:r>
              <a:rPr dirty="0" sz="2000" spc="-150" b="1">
                <a:latin typeface="Arial"/>
                <a:cs typeface="Arial"/>
              </a:rPr>
              <a:t>запрос</a:t>
            </a:r>
            <a:r>
              <a:rPr dirty="0" sz="2000" spc="-18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на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512809" y="4610163"/>
            <a:ext cx="14370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90" b="1">
                <a:latin typeface="Arial"/>
                <a:cs typeface="Arial"/>
              </a:rPr>
              <a:t>повтор</a:t>
            </a:r>
            <a:r>
              <a:rPr dirty="0" sz="2000" spc="-170" b="1">
                <a:latin typeface="Arial"/>
                <a:cs typeface="Arial"/>
              </a:rPr>
              <a:t> </a:t>
            </a:r>
            <a:r>
              <a:rPr dirty="0" sz="2000" spc="-150" b="1">
                <a:latin typeface="Arial"/>
                <a:cs typeface="Arial"/>
              </a:rPr>
              <a:t>игры.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512809" y="4829492"/>
            <a:ext cx="295084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5" b="1">
                <a:latin typeface="Arial"/>
                <a:cs typeface="Arial"/>
              </a:rPr>
              <a:t>Нет</a:t>
            </a:r>
            <a:r>
              <a:rPr dirty="0" sz="2000" spc="-150" b="1">
                <a:latin typeface="Arial"/>
                <a:cs typeface="Arial"/>
              </a:rPr>
              <a:t> </a:t>
            </a:r>
            <a:r>
              <a:rPr dirty="0" sz="2000" spc="-800" b="1">
                <a:latin typeface="Arial"/>
                <a:cs typeface="Arial"/>
              </a:rPr>
              <a:t>→</a:t>
            </a:r>
            <a:r>
              <a:rPr dirty="0" sz="2000" spc="-250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продолжение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135" b="1">
                <a:latin typeface="Arial"/>
                <a:cs typeface="Arial"/>
              </a:rPr>
              <a:t>ввода.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512809" y="5039423"/>
            <a:ext cx="26409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0" b="1">
                <a:latin typeface="Arial"/>
                <a:cs typeface="Arial"/>
              </a:rPr>
              <a:t>При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185" b="1">
                <a:latin typeface="Arial"/>
                <a:cs typeface="Arial"/>
              </a:rPr>
              <a:t>повторной</a:t>
            </a:r>
            <a:r>
              <a:rPr dirty="0" sz="2000" spc="-204" b="1">
                <a:latin typeface="Arial"/>
                <a:cs typeface="Arial"/>
              </a:rPr>
              <a:t> </a:t>
            </a:r>
            <a:r>
              <a:rPr dirty="0" sz="2000" spc="-130" b="1">
                <a:latin typeface="Arial"/>
                <a:cs typeface="Arial"/>
              </a:rPr>
              <a:t>игре</a:t>
            </a:r>
            <a:r>
              <a:rPr dirty="0" sz="2000" spc="-195" b="1">
                <a:latin typeface="Arial"/>
                <a:cs typeface="Arial"/>
              </a:rPr>
              <a:t> </a:t>
            </a:r>
            <a:r>
              <a:rPr dirty="0" sz="2000" spc="-95" b="1">
                <a:latin typeface="Arial"/>
                <a:cs typeface="Arial"/>
              </a:rPr>
              <a:t>всё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512809" y="5258752"/>
            <a:ext cx="218948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50" b="1">
                <a:latin typeface="Arial"/>
                <a:cs typeface="Arial"/>
              </a:rPr>
              <a:t>начинается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 spc="-120" b="1">
                <a:latin typeface="Arial"/>
                <a:cs typeface="Arial"/>
              </a:rPr>
              <a:t>заново.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569" y="354711"/>
            <a:ext cx="381000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80"/>
              <a:t>Блок-</a:t>
            </a:r>
            <a:r>
              <a:rPr dirty="0" spc="-125"/>
              <a:t>схема</a:t>
            </a:r>
            <a:r>
              <a:rPr dirty="0" spc="-385"/>
              <a:t> </a:t>
            </a:r>
            <a:r>
              <a:rPr dirty="0" spc="-140"/>
              <a:t>алгоритма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3025" y="1009650"/>
            <a:ext cx="6858000" cy="48482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86079" y="1022032"/>
            <a:ext cx="4312920" cy="5523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 marR="939800" indent="-22923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41300" algn="l"/>
              </a:tabLst>
            </a:pPr>
            <a:r>
              <a:rPr dirty="0" sz="2000" spc="-90">
                <a:latin typeface="Tahoma"/>
                <a:cs typeface="Tahoma"/>
              </a:rPr>
              <a:t>Начало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запуск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программы, </a:t>
            </a:r>
            <a:r>
              <a:rPr dirty="0" sz="2000" spc="-95">
                <a:latin typeface="Tahoma"/>
                <a:cs typeface="Tahoma"/>
              </a:rPr>
              <a:t>загрузка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статистики</a:t>
            </a:r>
            <a:endParaRPr sz="2000">
              <a:latin typeface="Tahoma"/>
              <a:cs typeface="Tahoma"/>
            </a:endParaRPr>
          </a:p>
          <a:p>
            <a:pPr marL="241300" marR="96520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dirty="0" sz="2000" spc="-120">
                <a:latin typeface="Tahoma"/>
                <a:cs typeface="Tahoma"/>
              </a:rPr>
              <a:t>Генерация</a:t>
            </a:r>
            <a:r>
              <a:rPr dirty="0" sz="2000" spc="-185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числа</a:t>
            </a:r>
            <a:r>
              <a:rPr dirty="0" sz="2000" spc="-270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создание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4- </a:t>
            </a:r>
            <a:r>
              <a:rPr dirty="0" sz="2000" spc="-90">
                <a:latin typeface="Tahoma"/>
                <a:cs typeface="Tahoma"/>
              </a:rPr>
              <a:t>значного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числа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55">
                <a:latin typeface="Tahoma"/>
                <a:cs typeface="Tahoma"/>
              </a:rPr>
              <a:t>без</a:t>
            </a:r>
            <a:r>
              <a:rPr dirty="0" sz="2000" spc="-265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повторов</a:t>
            </a:r>
            <a:r>
              <a:rPr dirty="0" sz="2000" spc="-19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(первая </a:t>
            </a:r>
            <a:r>
              <a:rPr dirty="0" sz="2000" spc="-135">
                <a:latin typeface="Tahoma"/>
                <a:cs typeface="Tahoma"/>
              </a:rPr>
              <a:t>цифра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не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ноль)</a:t>
            </a:r>
            <a:endParaRPr sz="20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241300" algn="l"/>
              </a:tabLst>
            </a:pPr>
            <a:r>
              <a:rPr dirty="0" sz="2000" spc="-90">
                <a:latin typeface="Tahoma"/>
                <a:cs typeface="Tahoma"/>
              </a:rPr>
              <a:t>Ввод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догадки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пользователь</a:t>
            </a:r>
            <a:r>
              <a:rPr dirty="0" sz="2000" spc="-2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вводит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Tahoma"/>
                <a:cs typeface="Tahoma"/>
              </a:rPr>
              <a:t>число</a:t>
            </a:r>
            <a:endParaRPr sz="2000">
              <a:latin typeface="Tahoma"/>
              <a:cs typeface="Tahoma"/>
            </a:endParaRPr>
          </a:p>
          <a:p>
            <a:pPr marL="241300" marR="611505" indent="-22923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41300" algn="l"/>
              </a:tabLst>
            </a:pPr>
            <a:r>
              <a:rPr dirty="0" sz="2000" spc="-100">
                <a:latin typeface="Tahoma"/>
                <a:cs typeface="Tahoma"/>
              </a:rPr>
              <a:t>Валидация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проверка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длины, </a:t>
            </a:r>
            <a:r>
              <a:rPr dirty="0" sz="2000" spc="-105">
                <a:latin typeface="Tahoma"/>
                <a:cs typeface="Tahoma"/>
              </a:rPr>
              <a:t>повторений,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140">
                <a:latin typeface="Tahoma"/>
                <a:cs typeface="Tahoma"/>
              </a:rPr>
              <a:t>нуля</a:t>
            </a:r>
            <a:r>
              <a:rPr dirty="0" sz="2000" spc="-235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в</a:t>
            </a:r>
            <a:r>
              <a:rPr dirty="0" sz="2000" spc="-220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начале</a:t>
            </a:r>
            <a:r>
              <a:rPr dirty="0" sz="2000" spc="-18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(если </a:t>
            </a:r>
            <a:r>
              <a:rPr dirty="0" sz="2000" spc="-80">
                <a:latin typeface="Tahoma"/>
                <a:cs typeface="Tahoma"/>
              </a:rPr>
              <a:t>ошибка</a:t>
            </a:r>
            <a:r>
              <a:rPr dirty="0" sz="2000" spc="-270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3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вернуться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к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шагу</a:t>
            </a:r>
            <a:r>
              <a:rPr dirty="0" sz="2000" spc="-27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3)</a:t>
            </a:r>
            <a:endParaRPr sz="20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AutoNum type="arabicPeriod" startAt="4"/>
              <a:tabLst>
                <a:tab pos="241300" algn="l"/>
              </a:tabLst>
            </a:pPr>
            <a:r>
              <a:rPr dirty="0" sz="2000" spc="-85">
                <a:latin typeface="Tahoma"/>
                <a:cs typeface="Tahoma"/>
              </a:rPr>
              <a:t>Подсчёт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быков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и</a:t>
            </a:r>
            <a:r>
              <a:rPr dirty="0" sz="2000" spc="-220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коров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сравнение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с</a:t>
            </a:r>
            <a:endParaRPr sz="20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dirty="0" sz="2000" spc="-95">
                <a:latin typeface="Tahoma"/>
                <a:cs typeface="Tahoma"/>
              </a:rPr>
              <a:t>загаданным</a:t>
            </a:r>
            <a:r>
              <a:rPr dirty="0" sz="2000" spc="-1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числом</a:t>
            </a:r>
            <a:endParaRPr sz="20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241300" algn="l"/>
              </a:tabLst>
            </a:pPr>
            <a:r>
              <a:rPr dirty="0" sz="2000" spc="-100">
                <a:latin typeface="Tahoma"/>
                <a:cs typeface="Tahoma"/>
              </a:rPr>
              <a:t>Проверка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победы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—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быки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425">
                <a:latin typeface="Tahoma"/>
                <a:cs typeface="Tahoma"/>
              </a:rPr>
              <a:t>==</a:t>
            </a:r>
            <a:r>
              <a:rPr dirty="0" sz="2000" spc="-27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4?</a:t>
            </a:r>
            <a:endParaRPr sz="2000">
              <a:latin typeface="Tahoma"/>
              <a:cs typeface="Tahoma"/>
            </a:endParaRPr>
          </a:p>
          <a:p>
            <a:pPr lvl="1" marL="241300" marR="147320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  <a:tab pos="421005" algn="l"/>
              </a:tabLst>
            </a:pPr>
            <a:r>
              <a:rPr dirty="0" sz="2000" spc="-160">
                <a:latin typeface="Tahoma"/>
                <a:cs typeface="Tahoma"/>
              </a:rPr>
              <a:t>	</a:t>
            </a:r>
            <a:r>
              <a:rPr dirty="0" sz="2000" spc="-160">
                <a:latin typeface="Tahoma"/>
                <a:cs typeface="Tahoma"/>
              </a:rPr>
              <a:t>ДА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вывод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выигрыша,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обновление </a:t>
            </a:r>
            <a:r>
              <a:rPr dirty="0" sz="2000" spc="-100">
                <a:latin typeface="Tahoma"/>
                <a:cs typeface="Tahoma"/>
              </a:rPr>
              <a:t>статистики,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вопрос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75">
                <a:latin typeface="Tahoma"/>
                <a:cs typeface="Tahoma"/>
              </a:rPr>
              <a:t>о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продолжении </a:t>
            </a:r>
            <a:r>
              <a:rPr dirty="0" sz="2000" spc="-85">
                <a:latin typeface="Tahoma"/>
                <a:cs typeface="Tahoma"/>
              </a:rPr>
              <a:t>(если</a:t>
            </a:r>
            <a:r>
              <a:rPr dirty="0" sz="2000" spc="-26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да</a:t>
            </a:r>
            <a:r>
              <a:rPr dirty="0" sz="2000" spc="-250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шаг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2,</a:t>
            </a:r>
            <a:r>
              <a:rPr dirty="0" sz="2000" spc="-275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нет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конец)</a:t>
            </a:r>
            <a:endParaRPr sz="2000">
              <a:latin typeface="Tahoma"/>
              <a:cs typeface="Tahoma"/>
            </a:endParaRPr>
          </a:p>
          <a:p>
            <a:pPr lvl="1" marL="12700" marR="218440" indent="370840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383540" algn="l"/>
              </a:tabLst>
            </a:pPr>
            <a:r>
              <a:rPr dirty="0" sz="2000" spc="-155">
                <a:latin typeface="Tahoma"/>
                <a:cs typeface="Tahoma"/>
              </a:rPr>
              <a:t>НЕТ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35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вывод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результата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в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историю, </a:t>
            </a:r>
            <a:r>
              <a:rPr dirty="0" sz="2000" spc="-110">
                <a:latin typeface="Tahoma"/>
                <a:cs typeface="Tahoma"/>
              </a:rPr>
              <a:t>возврат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к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шагу</a:t>
            </a:r>
            <a:r>
              <a:rPr dirty="0" sz="2000" spc="-27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30"/>
              <a:t>Внешний</a:t>
            </a:r>
            <a:r>
              <a:rPr dirty="0" spc="-415"/>
              <a:t> </a:t>
            </a:r>
            <a:r>
              <a:rPr dirty="0" spc="-130"/>
              <a:t>вид</a:t>
            </a:r>
            <a:r>
              <a:rPr dirty="0" spc="-395"/>
              <a:t> </a:t>
            </a:r>
            <a:r>
              <a:rPr dirty="0" spc="-125"/>
              <a:t>программы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14475"/>
            <a:ext cx="4114800" cy="4381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5975" y="371475"/>
            <a:ext cx="5172075" cy="55245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17842" y="6127115"/>
            <a:ext cx="3370579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05">
                <a:latin typeface="Tahoma"/>
                <a:cs typeface="Tahoma"/>
              </a:rPr>
              <a:t>Первая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страница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главного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окна </a:t>
            </a:r>
            <a:r>
              <a:rPr dirty="0" sz="2000" spc="-10">
                <a:latin typeface="Tahoma"/>
                <a:cs typeface="Tahoma"/>
              </a:rPr>
              <a:t>приложения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36665" y="6127115"/>
            <a:ext cx="43408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0">
                <a:latin typeface="Tahoma"/>
                <a:cs typeface="Tahoma"/>
              </a:rPr>
              <a:t>Главное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окно</a:t>
            </a:r>
            <a:r>
              <a:rPr dirty="0" sz="2000" spc="-170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демонстрации</a:t>
            </a:r>
            <a:r>
              <a:rPr dirty="0" sz="2000" spc="-220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интерфейса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30"/>
              <a:t>Внешний</a:t>
            </a:r>
            <a:r>
              <a:rPr dirty="0" spc="-415"/>
              <a:t> </a:t>
            </a:r>
            <a:r>
              <a:rPr dirty="0" spc="-130"/>
              <a:t>вид</a:t>
            </a:r>
            <a:r>
              <a:rPr dirty="0" spc="-395"/>
              <a:t> </a:t>
            </a:r>
            <a:r>
              <a:rPr dirty="0" spc="-125"/>
              <a:t>программы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1590675"/>
            <a:ext cx="6905625" cy="45053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38919" y="3185731"/>
            <a:ext cx="231902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90">
                <a:latin typeface="Tahoma"/>
                <a:cs typeface="Tahoma"/>
              </a:rPr>
              <a:t>Окно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окончания</a:t>
            </a:r>
            <a:r>
              <a:rPr dirty="0" sz="2000" spc="-185">
                <a:latin typeface="Tahoma"/>
                <a:cs typeface="Tahoma"/>
              </a:rPr>
              <a:t> </a:t>
            </a:r>
            <a:r>
              <a:rPr dirty="0" sz="2000" spc="-70">
                <a:latin typeface="Tahoma"/>
                <a:cs typeface="Tahoma"/>
              </a:rPr>
              <a:t>игры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30"/>
              <a:t>Внешний</a:t>
            </a:r>
            <a:r>
              <a:rPr dirty="0" spc="-415"/>
              <a:t> </a:t>
            </a:r>
            <a:r>
              <a:rPr dirty="0" spc="-130"/>
              <a:t>вид</a:t>
            </a:r>
            <a:r>
              <a:rPr dirty="0" spc="-395"/>
              <a:t> </a:t>
            </a:r>
            <a:r>
              <a:rPr dirty="0" spc="-125"/>
              <a:t>программы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0875" y="1428750"/>
            <a:ext cx="4876800" cy="51720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69706" y="2980436"/>
            <a:ext cx="3289300" cy="640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90">
                <a:latin typeface="Tahoma"/>
                <a:cs typeface="Tahoma"/>
              </a:rPr>
              <a:t>Окно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собранной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00">
                <a:latin typeface="Tahoma"/>
                <a:cs typeface="Tahoma"/>
              </a:rPr>
              <a:t>статистики</a:t>
            </a:r>
            <a:r>
              <a:rPr dirty="0" sz="2000" spc="-17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за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000" spc="-95">
                <a:latin typeface="Tahoma"/>
                <a:cs typeface="Tahoma"/>
              </a:rPr>
              <a:t>несколько</a:t>
            </a:r>
            <a:r>
              <a:rPr dirty="0" sz="2000" spc="-16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игр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827" y="961643"/>
            <a:ext cx="3334385" cy="956944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60"/>
              </a:spcBef>
            </a:pPr>
            <a:r>
              <a:rPr dirty="0" spc="-130"/>
              <a:t>Содержание</a:t>
            </a:r>
            <a:r>
              <a:rPr dirty="0" spc="-325"/>
              <a:t> </a:t>
            </a:r>
            <a:r>
              <a:rPr dirty="0" spc="-195"/>
              <a:t>файла </a:t>
            </a:r>
            <a:r>
              <a:rPr dirty="0" spc="-70"/>
              <a:t>логирования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700" y="381000"/>
            <a:ext cx="527685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57" y="522986"/>
            <a:ext cx="213233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35"/>
              <a:t>Заключение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0057" y="1155128"/>
            <a:ext cx="4093210" cy="517652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000">
                <a:latin typeface="Trebuchet MS"/>
                <a:cs typeface="Trebuchet MS"/>
              </a:rPr>
              <a:t>Что</a:t>
            </a:r>
            <a:r>
              <a:rPr dirty="0" sz="2000" spc="-204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сделано:</a:t>
            </a:r>
            <a:endParaRPr sz="2000">
              <a:latin typeface="Trebuchet MS"/>
              <a:cs typeface="Trebuchet MS"/>
            </a:endParaRPr>
          </a:p>
          <a:p>
            <a:pPr marL="12700" marR="5080" indent="-9525">
              <a:lnSpc>
                <a:spcPct val="89200"/>
              </a:lnSpc>
              <a:spcBef>
                <a:spcPts val="1010"/>
              </a:spcBef>
              <a:buSzPct val="90000"/>
              <a:buAutoNum type="arabicPeriod"/>
              <a:tabLst>
                <a:tab pos="220979" algn="l"/>
              </a:tabLst>
            </a:pP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Разработано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приложение</a:t>
            </a:r>
            <a:r>
              <a:rPr dirty="0" sz="2000" spc="-1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«Быки </a:t>
            </a:r>
            <a:r>
              <a:rPr dirty="0" sz="2000">
                <a:latin typeface="Trebuchet MS"/>
                <a:cs typeface="Trebuchet MS"/>
              </a:rPr>
              <a:t>и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-55">
                <a:latin typeface="Trebuchet MS"/>
                <a:cs typeface="Trebuchet MS"/>
              </a:rPr>
              <a:t>коровы»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на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40">
                <a:latin typeface="Trebuchet MS"/>
                <a:cs typeface="Trebuchet MS"/>
              </a:rPr>
              <a:t>Python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с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графическим </a:t>
            </a:r>
            <a:r>
              <a:rPr dirty="0" sz="2000" spc="-40">
                <a:latin typeface="Trebuchet MS"/>
                <a:cs typeface="Trebuchet MS"/>
              </a:rPr>
              <a:t>интерфейсом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Tkinter</a:t>
            </a:r>
            <a:endParaRPr sz="2000">
              <a:latin typeface="Trebuchet MS"/>
              <a:cs typeface="Trebuchet MS"/>
            </a:endParaRPr>
          </a:p>
          <a:p>
            <a:pPr marL="12700" marR="1102995" indent="-9525">
              <a:lnSpc>
                <a:spcPts val="2180"/>
              </a:lnSpc>
              <a:spcBef>
                <a:spcPts val="1015"/>
              </a:spcBef>
              <a:buSzPct val="90000"/>
              <a:buAutoNum type="arabicPeriod"/>
              <a:tabLst>
                <a:tab pos="220979" algn="l"/>
              </a:tabLst>
            </a:pP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Реализована</a:t>
            </a:r>
            <a:r>
              <a:rPr dirty="0" sz="2000" spc="-1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генерация </a:t>
            </a:r>
            <a:r>
              <a:rPr dirty="0" sz="2000" spc="-40">
                <a:latin typeface="Trebuchet MS"/>
                <a:cs typeface="Trebuchet MS"/>
              </a:rPr>
              <a:t>четырёхзначных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чисел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10">
                <a:latin typeface="Trebuchet MS"/>
                <a:cs typeface="Trebuchet MS"/>
              </a:rPr>
              <a:t>с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140"/>
              </a:lnSpc>
            </a:pPr>
            <a:r>
              <a:rPr dirty="0" sz="2000">
                <a:latin typeface="Trebuchet MS"/>
                <a:cs typeface="Trebuchet MS"/>
              </a:rPr>
              <a:t>неповторяющимися</a:t>
            </a:r>
            <a:r>
              <a:rPr dirty="0" sz="2000" spc="-229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цифрами</a:t>
            </a:r>
            <a:endParaRPr sz="2000">
              <a:latin typeface="Trebuchet MS"/>
              <a:cs typeface="Trebuchet MS"/>
            </a:endParaRPr>
          </a:p>
          <a:p>
            <a:pPr marL="12700" marR="722630" indent="-9525">
              <a:lnSpc>
                <a:spcPts val="2180"/>
              </a:lnSpc>
              <a:spcBef>
                <a:spcPts val="1010"/>
              </a:spcBef>
              <a:buSzPct val="90000"/>
              <a:buAutoNum type="arabicPeriod" startAt="3"/>
              <a:tabLst>
                <a:tab pos="220979" algn="l"/>
              </a:tabLst>
            </a:pPr>
            <a:r>
              <a:rPr dirty="0" sz="2000">
                <a:latin typeface="Trebuchet MS"/>
                <a:cs typeface="Trebuchet MS"/>
              </a:rPr>
              <a:t>	</a:t>
            </a:r>
            <a:r>
              <a:rPr dirty="0" sz="2000">
                <a:latin typeface="Trebuchet MS"/>
                <a:cs typeface="Trebuchet MS"/>
              </a:rPr>
              <a:t>Создана</a:t>
            </a:r>
            <a:r>
              <a:rPr dirty="0" sz="2000" spc="20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функция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подсчёта </a:t>
            </a:r>
            <a:r>
              <a:rPr dirty="0" sz="2000" spc="-30">
                <a:latin typeface="Trebuchet MS"/>
                <a:cs typeface="Trebuchet MS"/>
              </a:rPr>
              <a:t>быков</a:t>
            </a:r>
            <a:r>
              <a:rPr dirty="0" sz="2000" spc="-20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и</a:t>
            </a:r>
            <a:r>
              <a:rPr dirty="0" sz="2000" spc="-18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коров</a:t>
            </a:r>
            <a:r>
              <a:rPr dirty="0" sz="2000" spc="-195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с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проверкой валидации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ввода</a:t>
            </a:r>
            <a:endParaRPr sz="2000">
              <a:latin typeface="Trebuchet MS"/>
              <a:cs typeface="Trebuchet MS"/>
            </a:endParaRPr>
          </a:p>
          <a:p>
            <a:pPr marL="12700" marR="112395" indent="-9525">
              <a:lnSpc>
                <a:spcPts val="2180"/>
              </a:lnSpc>
              <a:spcBef>
                <a:spcPts val="969"/>
              </a:spcBef>
              <a:buSzPct val="90000"/>
              <a:buAutoNum type="arabicPeriod" startAt="3"/>
              <a:tabLst>
                <a:tab pos="220979" algn="l"/>
              </a:tabLst>
            </a:pPr>
            <a:r>
              <a:rPr dirty="0" sz="2000" spc="-20">
                <a:latin typeface="Trebuchet MS"/>
                <a:cs typeface="Trebuchet MS"/>
              </a:rPr>
              <a:t>	</a:t>
            </a:r>
            <a:r>
              <a:rPr dirty="0" sz="2000" spc="-20">
                <a:latin typeface="Trebuchet MS"/>
                <a:cs typeface="Trebuchet MS"/>
              </a:rPr>
              <a:t>Добавлена</a:t>
            </a:r>
            <a:r>
              <a:rPr dirty="0" sz="2000" spc="-13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история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ходов,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окно </a:t>
            </a:r>
            <a:r>
              <a:rPr dirty="0" sz="2000" spc="-35">
                <a:latin typeface="Trebuchet MS"/>
                <a:cs typeface="Trebuchet MS"/>
              </a:rPr>
              <a:t>статистики</a:t>
            </a:r>
            <a:r>
              <a:rPr dirty="0" sz="2000" spc="-160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с</a:t>
            </a:r>
            <a:r>
              <a:rPr dirty="0" sz="2000" spc="-12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сохранением</a:t>
            </a:r>
            <a:r>
              <a:rPr dirty="0" sz="2000" spc="-18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в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JSON- </a:t>
            </a:r>
            <a:r>
              <a:rPr dirty="0" sz="2000" spc="-20">
                <a:latin typeface="Trebuchet MS"/>
                <a:cs typeface="Trebuchet MS"/>
              </a:rPr>
              <a:t>файл</a:t>
            </a:r>
            <a:endParaRPr sz="2000">
              <a:latin typeface="Trebuchet MS"/>
              <a:cs typeface="Trebuchet MS"/>
            </a:endParaRPr>
          </a:p>
          <a:p>
            <a:pPr algn="just" marL="12700" marR="518159" indent="-9525">
              <a:lnSpc>
                <a:spcPct val="89200"/>
              </a:lnSpc>
              <a:spcBef>
                <a:spcPts val="969"/>
              </a:spcBef>
              <a:buSzPct val="90000"/>
              <a:buAutoNum type="arabicPeriod" startAt="3"/>
              <a:tabLst>
                <a:tab pos="220979" algn="l"/>
              </a:tabLst>
            </a:pPr>
            <a:r>
              <a:rPr dirty="0" sz="2000" spc="5">
                <a:latin typeface="Trebuchet MS"/>
                <a:cs typeface="Trebuchet MS"/>
              </a:rPr>
              <a:t>	</a:t>
            </a:r>
            <a:r>
              <a:rPr dirty="0" sz="2000" spc="5">
                <a:latin typeface="Trebuchet MS"/>
                <a:cs typeface="Trebuchet MS"/>
              </a:rPr>
              <a:t>Настроено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логирование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всех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действий</a:t>
            </a:r>
            <a:r>
              <a:rPr dirty="0" sz="2000" spc="-195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пользователя</a:t>
            </a:r>
            <a:r>
              <a:rPr dirty="0" sz="2000" spc="-195">
                <a:latin typeface="Trebuchet MS"/>
                <a:cs typeface="Trebuchet MS"/>
              </a:rPr>
              <a:t> </a:t>
            </a:r>
            <a:r>
              <a:rPr dirty="0" sz="2000" spc="-15">
                <a:latin typeface="Trebuchet MS"/>
                <a:cs typeface="Trebuchet MS"/>
              </a:rPr>
              <a:t>в</a:t>
            </a:r>
            <a:r>
              <a:rPr dirty="0" sz="2000" spc="-210">
                <a:latin typeface="Trebuchet MS"/>
                <a:cs typeface="Trebuchet MS"/>
              </a:rPr>
              <a:t> </a:t>
            </a:r>
            <a:r>
              <a:rPr dirty="0" sz="2000" spc="-70">
                <a:latin typeface="Trebuchet MS"/>
                <a:cs typeface="Trebuchet MS"/>
              </a:rPr>
              <a:t>файл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game.log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19701" y="482917"/>
            <a:ext cx="301752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10">
                <a:latin typeface="Tahoma"/>
                <a:cs typeface="Tahoma"/>
              </a:rPr>
              <a:t>Какие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навыки</a:t>
            </a:r>
            <a:r>
              <a:rPr dirty="0" sz="2000" spc="-235">
                <a:latin typeface="Tahoma"/>
                <a:cs typeface="Tahoma"/>
              </a:rPr>
              <a:t> </a:t>
            </a:r>
            <a:r>
              <a:rPr dirty="0" sz="2000" spc="-95">
                <a:latin typeface="Tahoma"/>
                <a:cs typeface="Tahoma"/>
              </a:rPr>
              <a:t>приобретены: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19701" y="1093152"/>
            <a:ext cx="3128645" cy="944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25"/>
              </a:spcBef>
              <a:tabLst>
                <a:tab pos="355600" algn="l"/>
              </a:tabLst>
            </a:pPr>
            <a:r>
              <a:rPr dirty="0" sz="2000" spc="-25">
                <a:latin typeface="Tahoma"/>
                <a:cs typeface="Tahoma"/>
              </a:rPr>
              <a:t>1.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95">
                <a:latin typeface="Tahoma"/>
                <a:cs typeface="Tahoma"/>
              </a:rPr>
              <a:t>Программирование </a:t>
            </a:r>
            <a:r>
              <a:rPr dirty="0" sz="2000" spc="-25">
                <a:latin typeface="Tahoma"/>
                <a:cs typeface="Tahoma"/>
              </a:rPr>
              <a:t>на </a:t>
            </a:r>
            <a:r>
              <a:rPr dirty="0" sz="2000" spc="-105">
                <a:latin typeface="Tahoma"/>
                <a:cs typeface="Tahoma"/>
              </a:rPr>
              <a:t>Python</a:t>
            </a:r>
            <a:r>
              <a:rPr dirty="0" sz="2000" spc="-180">
                <a:latin typeface="Tahoma"/>
                <a:cs typeface="Tahoma"/>
              </a:rPr>
              <a:t> </a:t>
            </a:r>
            <a:r>
              <a:rPr dirty="0" sz="2000" spc="-130">
                <a:latin typeface="Tahoma"/>
                <a:cs typeface="Tahoma"/>
              </a:rPr>
              <a:t>(циклы,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ветвления, </a:t>
            </a:r>
            <a:r>
              <a:rPr dirty="0" sz="2000" spc="-135">
                <a:latin typeface="Tahoma"/>
                <a:cs typeface="Tahoma"/>
              </a:rPr>
              <a:t>функции,</a:t>
            </a:r>
            <a:r>
              <a:rPr dirty="0" sz="2000" spc="-1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классы)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19701" y="2314257"/>
            <a:ext cx="3431540" cy="944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  <a:tabLst>
                <a:tab pos="350520" algn="l"/>
                <a:tab pos="1631314" algn="l"/>
              </a:tabLst>
            </a:pPr>
            <a:r>
              <a:rPr dirty="0" sz="2000" spc="-25">
                <a:latin typeface="Tahoma"/>
                <a:cs typeface="Tahoma"/>
              </a:rPr>
              <a:t>2.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100">
                <a:latin typeface="Tahoma"/>
                <a:cs typeface="Tahoma"/>
              </a:rPr>
              <a:t>Работа</a:t>
            </a:r>
            <a:r>
              <a:rPr dirty="0" sz="2000" spc="-1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с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библиотекой</a:t>
            </a:r>
            <a:r>
              <a:rPr dirty="0" sz="2000" spc="-190">
                <a:latin typeface="Tahoma"/>
                <a:cs typeface="Tahoma"/>
              </a:rPr>
              <a:t> </a:t>
            </a:r>
            <a:r>
              <a:rPr dirty="0" sz="2000" spc="-105">
                <a:latin typeface="Tahoma"/>
                <a:cs typeface="Tahoma"/>
              </a:rPr>
              <a:t>Tkinter </a:t>
            </a:r>
            <a:r>
              <a:rPr dirty="0" sz="2000" spc="-114">
                <a:latin typeface="Tahoma"/>
                <a:cs typeface="Tahoma"/>
              </a:rPr>
              <a:t>для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создания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20">
                <a:latin typeface="Tahoma"/>
                <a:cs typeface="Tahoma"/>
              </a:rPr>
              <a:t>графического </a:t>
            </a:r>
            <a:r>
              <a:rPr dirty="0" sz="2000" spc="-10">
                <a:latin typeface="Tahoma"/>
                <a:cs typeface="Tahoma"/>
              </a:rPr>
              <a:t>интерфейса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19701" y="3534981"/>
            <a:ext cx="280416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  <a:tabLst>
                <a:tab pos="350520" algn="l"/>
              </a:tabLst>
            </a:pPr>
            <a:r>
              <a:rPr dirty="0" sz="2000" spc="-25">
                <a:latin typeface="Tahoma"/>
                <a:cs typeface="Tahoma"/>
              </a:rPr>
              <a:t>3.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85">
                <a:latin typeface="Tahoma"/>
                <a:cs typeface="Tahoma"/>
              </a:rPr>
              <a:t>Сохранение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и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80">
                <a:latin typeface="Tahoma"/>
                <a:cs typeface="Tahoma"/>
              </a:rPr>
              <a:t>загрузка </a:t>
            </a:r>
            <a:r>
              <a:rPr dirty="0" sz="2000" spc="-120">
                <a:latin typeface="Tahoma"/>
                <a:cs typeface="Tahoma"/>
              </a:rPr>
              <a:t>данных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25">
                <a:latin typeface="Tahoma"/>
                <a:cs typeface="Tahoma"/>
              </a:rPr>
              <a:t>в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135">
                <a:latin typeface="Tahoma"/>
                <a:cs typeface="Tahoma"/>
              </a:rPr>
              <a:t>формате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JSON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719701" y="4450651"/>
            <a:ext cx="334391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  <a:tabLst>
                <a:tab pos="350520" algn="l"/>
              </a:tabLst>
            </a:pPr>
            <a:r>
              <a:rPr dirty="0" sz="2000" spc="-25">
                <a:latin typeface="Tahoma"/>
                <a:cs typeface="Tahoma"/>
              </a:rPr>
              <a:t>4.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95">
                <a:latin typeface="Tahoma"/>
                <a:cs typeface="Tahoma"/>
              </a:rPr>
              <a:t>Организация</a:t>
            </a:r>
            <a:r>
              <a:rPr dirty="0" sz="2000" spc="-200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логирования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с </a:t>
            </a:r>
            <a:r>
              <a:rPr dirty="0" sz="2000" spc="-85">
                <a:latin typeface="Tahoma"/>
                <a:cs typeface="Tahoma"/>
              </a:rPr>
              <a:t>помощью</a:t>
            </a:r>
            <a:r>
              <a:rPr dirty="0" sz="2000" spc="-250">
                <a:latin typeface="Tahoma"/>
                <a:cs typeface="Tahoma"/>
              </a:rPr>
              <a:t> </a:t>
            </a:r>
            <a:r>
              <a:rPr dirty="0" sz="2000" spc="-120">
                <a:latin typeface="Tahoma"/>
                <a:cs typeface="Tahoma"/>
              </a:rPr>
              <a:t>модуля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logging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19701" y="5366384"/>
            <a:ext cx="3050540" cy="944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  <a:tabLst>
                <a:tab pos="398145" algn="l"/>
              </a:tabLst>
            </a:pPr>
            <a:r>
              <a:rPr dirty="0" sz="2000" spc="-25">
                <a:latin typeface="Tahoma"/>
                <a:cs typeface="Tahoma"/>
              </a:rPr>
              <a:t>6.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110">
                <a:latin typeface="Tahoma"/>
                <a:cs typeface="Tahoma"/>
              </a:rPr>
              <a:t>Навыки</a:t>
            </a:r>
            <a:r>
              <a:rPr dirty="0" sz="2000" spc="-185">
                <a:latin typeface="Tahoma"/>
                <a:cs typeface="Tahoma"/>
              </a:rPr>
              <a:t> </a:t>
            </a:r>
            <a:r>
              <a:rPr dirty="0" sz="2000" spc="-110">
                <a:latin typeface="Tahoma"/>
                <a:cs typeface="Tahoma"/>
              </a:rPr>
              <a:t>отладки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и </a:t>
            </a:r>
            <a:r>
              <a:rPr dirty="0" sz="2000" spc="-100">
                <a:latin typeface="Tahoma"/>
                <a:cs typeface="Tahoma"/>
              </a:rPr>
              <a:t>тестирования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программного </a:t>
            </a:r>
            <a:r>
              <a:rPr dirty="0" sz="2000" spc="-10">
                <a:latin typeface="Tahoma"/>
                <a:cs typeface="Tahoma"/>
              </a:rPr>
              <a:t>продукта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380094" y="1103947"/>
            <a:ext cx="2934970" cy="577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dirty="0" sz="1800" spc="-10">
                <a:latin typeface="Trebuchet MS"/>
                <a:cs typeface="Trebuchet MS"/>
              </a:rPr>
              <a:t>Что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планируется</a:t>
            </a:r>
            <a:r>
              <a:rPr dirty="0" sz="1800" spc="-12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улучшить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в </a:t>
            </a:r>
            <a:r>
              <a:rPr dirty="0" sz="1800" spc="-10">
                <a:latin typeface="Trebuchet MS"/>
                <a:cs typeface="Trebuchet MS"/>
              </a:rPr>
              <a:t>будущем: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380094" y="1933892"/>
            <a:ext cx="2849245" cy="843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20"/>
              </a:spcBef>
            </a:pPr>
            <a:r>
              <a:rPr dirty="0" sz="1800" spc="-35">
                <a:latin typeface="Trebuchet MS"/>
                <a:cs typeface="Trebuchet MS"/>
              </a:rPr>
              <a:t>1.Добавить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выбор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длины </a:t>
            </a:r>
            <a:r>
              <a:rPr dirty="0" sz="1800">
                <a:latin typeface="Trebuchet MS"/>
                <a:cs typeface="Trebuchet MS"/>
              </a:rPr>
              <a:t>числа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100">
                <a:latin typeface="Trebuchet MS"/>
                <a:cs typeface="Trebuchet MS"/>
              </a:rPr>
              <a:t>(3,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4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или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5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цифр)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для </a:t>
            </a:r>
            <a:r>
              <a:rPr dirty="0" sz="1800" spc="-10">
                <a:latin typeface="Trebuchet MS"/>
                <a:cs typeface="Trebuchet MS"/>
              </a:rPr>
              <a:t>разных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уровней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сложности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380094" y="3030918"/>
            <a:ext cx="3150870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2.Реализовать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режим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2100"/>
              </a:lnSpc>
              <a:spcBef>
                <a:spcPts val="140"/>
              </a:spcBef>
            </a:pPr>
            <a:r>
              <a:rPr dirty="0" sz="1800" spc="-40">
                <a:latin typeface="Trebuchet MS"/>
                <a:cs typeface="Trebuchet MS"/>
              </a:rPr>
              <a:t>«компьютер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отгадывает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число </a:t>
            </a:r>
            <a:r>
              <a:rPr dirty="0" sz="1800" spc="-10">
                <a:latin typeface="Trebuchet MS"/>
                <a:cs typeface="Trebuchet MS"/>
              </a:rPr>
              <a:t>пользователя»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380094" y="4127817"/>
            <a:ext cx="3020060" cy="85344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-35">
                <a:latin typeface="Trebuchet MS"/>
                <a:cs typeface="Trebuchet MS"/>
              </a:rPr>
              <a:t>3.Ввести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ограничение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по </a:t>
            </a:r>
            <a:r>
              <a:rPr dirty="0" sz="1800" spc="-35">
                <a:latin typeface="Trebuchet MS"/>
                <a:cs typeface="Trebuchet MS"/>
              </a:rPr>
              <a:t>количеству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попыток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и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режим </a:t>
            </a:r>
            <a:r>
              <a:rPr dirty="0" sz="1800" spc="-50">
                <a:latin typeface="Trebuchet MS"/>
                <a:cs typeface="Trebuchet MS"/>
              </a:rPr>
              <a:t>игры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на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время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2026-04-09T20:34:43Z</dcterms:created>
  <dcterms:modified xsi:type="dcterms:W3CDTF">2026-04-09T20:34:43Z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2026-04-09T00:00:00Z</vt:filetime>
  </property>
  <property fmtid="{D5CDD505-2E9C-101B-9397-08002B2CF9AE}" pid="3" name="LastSaved">
    <vt:filetime>2026-04-09T00:00:00Z</vt:filetime>
  </property>
</Properties>
</file>